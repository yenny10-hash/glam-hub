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Belleza" charset="1" panose="02000503050000020003"/>
      <p:regular r:id="rId47"/>
    </p:embeddedFont>
    <p:embeddedFont>
      <p:font typeface="Great Vibes" charset="1" panose="02000507080000020002"/>
      <p:regular r:id="rId48"/>
    </p:embeddedFont>
    <p:embeddedFont>
      <p:font typeface="Calibri (MS)" charset="1" panose="020F0502020204030204"/>
      <p:regular r:id="rId49"/>
    </p:embeddedFont>
    <p:embeddedFont>
      <p:font typeface="Calibri (MS) Bold" charset="1" panose="020F0702030404030204"/>
      <p:regular r:id="rId50"/>
    </p:embeddedFont>
    <p:embeddedFont>
      <p:font typeface="Bryndan Write" charset="1" panose="02000503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miro.com/app/board/uXjVG-0Odw4=/"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docs.google.com/document/d/1HMum2lrPDCqFRElJTxpUOdmIZVCufch7z6xqe4i8atE/edit?usp=sharing" TargetMode="External" Type="http://schemas.openxmlformats.org/officeDocument/2006/relationships/hyperlink"/><Relationship Id="rId4"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docs.google.com/spreadsheets/d/1tRxK4Y3JBU0dIsppEAPIK5jJKmKtsMxNeZdOZPPmNck/edit?gid=823501958#gid=823501958" TargetMode="External" Type="http://schemas.openxmlformats.org/officeDocument/2006/relationships/hyperlink"/><Relationship Id="rId4"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docs.google.com/spreadsheets/d/1tRxK4Y3JBU0dIsppEAPIK5jJKmKtsMxNeZdOZPPmNck/edit?gid=1094186016#gid=1094186016" TargetMode="External" Type="http://schemas.openxmlformats.org/officeDocument/2006/relationships/hyperlink"/><Relationship Id="rId4"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1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docs.google.com/document/d/10toyUxBIwkkFi7EwvDDbT391zbd4lKgC/edit?usp=sharing&amp;ouid=105537226007472158094&amp;rtpof=true&amp;sd=true" TargetMode="External" Type="http://schemas.openxmlformats.org/officeDocument/2006/relationships/hyperlink"/><Relationship Id="rId4"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lucid.app/lucidchart/7e6e2668-f0fa-4c3c-96dc-d0d96693be62/edit?view_items=lrB3IK~7YOaj&amp;page=0_0&amp;invitationId=inv_ea50ee51-0db1-4af0-9031-61b50b92a2b1" TargetMode="External" Type="http://schemas.openxmlformats.org/officeDocument/2006/relationships/hyperlink"/><Relationship Id="rId5" Target="https://docs.google.com/spreadsheets/d/1xK-gwlwGCW2xL3DVFaVPcYWuLRV3PzP5RUAEmZ7WLOo/edit?usp=sharing" TargetMode="External" Type="http://schemas.openxmlformats.org/officeDocument/2006/relationships/hyperlink"/></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lucid.app/lucidchart/734f8350-cede-48b2-bc1d-a60bc0b0b5a7/edit?invitationId=inv_b1e851d2-687e-4425-a072-359aeb605bcf&amp;page=0_0" TargetMode="External" Type="http://schemas.openxmlformats.org/officeDocument/2006/relationships/hyperlink"/></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app.moqups.com/P4E0DKjQYDSIJmDypiSxoMPPqQy9OVxj/view/page/af121156" TargetMode="External" Type="http://schemas.openxmlformats.org/officeDocument/2006/relationships/hyperlink"/></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docs.google.com/spreadsheets/d/1UIRyDmDWaIrelY5OicPyd5Xo8pv0x-Hv/edit?usp=sharing&amp;ouid=105537226007472158094&amp;rtpof=true&amp;sd=true" TargetMode="External" Type="http://schemas.openxmlformats.org/officeDocument/2006/relationships/hyperlink"/></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docs.google.com/document/d/1aLn9UkWHm5NwGNzXzQCxWK1ZnnQiNM_aqAMHB9aQ9z4/edit?usp=sharing" TargetMode="External" Type="http://schemas.openxmlformats.org/officeDocument/2006/relationships/hyperlink"/></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lucid.app/lucidchart/ab9f42f1-3537-42a6-ac30-35a04e5c4772/edit?viewport_loc=-352%2C65%2C4989%2C2330%2CQORDXSZ06kcb3&amp;invitationId=inv_c4874025-eb3d-4d1a-bf24-7eeeaff2121f" TargetMode="External" Type="http://schemas.openxmlformats.org/officeDocument/2006/relationships/hyperlink"/></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lucid.app/lucidchart/9c5691e4-a4f7-4b6b-b320-1a64964a849e/edit?invitationId=inv_26647c68-7813-4bbd-aee7-4b972a5f2a17&amp;page=0_0" TargetMode="External" Type="http://schemas.openxmlformats.org/officeDocument/2006/relationships/hyperlink"/></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https://github.com/yenny10-hash/Glam-Hub.git" TargetMode="External" Type="http://schemas.openxmlformats.org/officeDocument/2006/relationships/hyperlink"/></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822097" y="3438788"/>
            <a:ext cx="12643806" cy="2444130"/>
          </a:xfrm>
          <a:prstGeom prst="rect">
            <a:avLst/>
          </a:prstGeom>
        </p:spPr>
        <p:txBody>
          <a:bodyPr anchor="t" rtlCol="false" tIns="0" lIns="0" bIns="0" rIns="0">
            <a:spAutoFit/>
          </a:bodyPr>
          <a:lstStyle/>
          <a:p>
            <a:pPr algn="l">
              <a:lnSpc>
                <a:spcPts val="4792"/>
              </a:lnSpc>
            </a:pPr>
            <a:r>
              <a:rPr lang="en-US" sz="3993">
                <a:solidFill>
                  <a:srgbClr val="404040"/>
                </a:solidFill>
                <a:latin typeface="Belleza"/>
                <a:ea typeface="Belleza"/>
                <a:cs typeface="Belleza"/>
                <a:sym typeface="Belleza"/>
              </a:rPr>
              <a:t>Glam Hub es un sistema web que centraliza y optimiza la gestión integral de un negocio de belleza.</a:t>
            </a:r>
          </a:p>
          <a:p>
            <a:pPr algn="l">
              <a:lnSpc>
                <a:spcPts val="4792"/>
              </a:lnSpc>
            </a:pPr>
            <a:r>
              <a:rPr lang="en-US" sz="3993">
                <a:solidFill>
                  <a:srgbClr val="404040"/>
                </a:solidFill>
                <a:latin typeface="Belleza"/>
                <a:ea typeface="Belleza"/>
                <a:cs typeface="Belleza"/>
                <a:sym typeface="Belleza"/>
              </a:rPr>
              <a:t>Equipo:</a:t>
            </a:r>
            <a:r>
              <a:rPr lang="en-US" sz="3993">
                <a:solidFill>
                  <a:srgbClr val="404040"/>
                </a:solidFill>
                <a:latin typeface="Belleza"/>
                <a:ea typeface="Belleza"/>
                <a:cs typeface="Belleza"/>
                <a:sym typeface="Belleza"/>
              </a:rPr>
              <a:t> Yenny Cardozo, Jhessua Rojas, Maria Segura</a:t>
            </a:r>
          </a:p>
          <a:p>
            <a:pPr algn="l">
              <a:lnSpc>
                <a:spcPts val="4792"/>
              </a:lnSpc>
            </a:pPr>
            <a:r>
              <a:rPr lang="en-US" sz="3993">
                <a:solidFill>
                  <a:srgbClr val="404040"/>
                </a:solidFill>
                <a:latin typeface="Belleza"/>
                <a:ea typeface="Belleza"/>
                <a:cs typeface="Belleza"/>
                <a:sym typeface="Belleza"/>
              </a:rPr>
              <a:t>SENA CEET 28 mayo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711547" y="1286022"/>
            <a:ext cx="4864907" cy="4864907"/>
          </a:xfrm>
          <a:custGeom>
            <a:avLst/>
            <a:gdLst/>
            <a:ahLst/>
            <a:cxnLst/>
            <a:rect r="r" b="b" t="t" l="l"/>
            <a:pathLst>
              <a:path h="4864907" w="4864907">
                <a:moveTo>
                  <a:pt x="0" y="0"/>
                </a:moveTo>
                <a:lnTo>
                  <a:pt x="4864906" y="0"/>
                </a:lnTo>
                <a:lnTo>
                  <a:pt x="4864906" y="4864907"/>
                </a:lnTo>
                <a:lnTo>
                  <a:pt x="0" y="4864907"/>
                </a:lnTo>
                <a:lnTo>
                  <a:pt x="0" y="0"/>
                </a:lnTo>
                <a:close/>
              </a:path>
            </a:pathLst>
          </a:custGeom>
          <a:blipFill>
            <a:blip r:embed="rId3"/>
            <a:stretch>
              <a:fillRect l="0" t="0" r="0" b="0"/>
            </a:stretch>
          </a:blipFill>
        </p:spPr>
      </p:sp>
      <p:sp>
        <p:nvSpPr>
          <p:cNvPr name="TextBox 4" id="4"/>
          <p:cNvSpPr txBox="true"/>
          <p:nvPr/>
        </p:nvSpPr>
        <p:spPr>
          <a:xfrm rot="0">
            <a:off x="3267275" y="6160454"/>
            <a:ext cx="11753449" cy="3476625"/>
          </a:xfrm>
          <a:prstGeom prst="rect">
            <a:avLst/>
          </a:prstGeom>
        </p:spPr>
        <p:txBody>
          <a:bodyPr anchor="t" rtlCol="false" tIns="0" lIns="0" bIns="0" rIns="0">
            <a:spAutoFit/>
          </a:bodyPr>
          <a:lstStyle/>
          <a:p>
            <a:pPr algn="ctr">
              <a:lnSpc>
                <a:spcPts val="13799"/>
              </a:lnSpc>
            </a:pPr>
            <a:r>
              <a:rPr lang="en-US" sz="11499">
                <a:solidFill>
                  <a:srgbClr val="000000"/>
                </a:solidFill>
                <a:latin typeface="Great Vibes"/>
                <a:ea typeface="Great Vibes"/>
                <a:cs typeface="Great Vibes"/>
                <a:sym typeface="Great Vibes"/>
              </a:rPr>
              <a:t>Glam Hub</a:t>
            </a:r>
          </a:p>
          <a:p>
            <a:pPr algn="ctr">
              <a:lnSpc>
                <a:spcPts val="13799"/>
              </a:lnSpc>
            </a:pPr>
          </a:p>
        </p:txBody>
      </p:sp>
      <p:sp>
        <p:nvSpPr>
          <p:cNvPr name="TextBox 5" id="5"/>
          <p:cNvSpPr txBox="true"/>
          <p:nvPr/>
        </p:nvSpPr>
        <p:spPr>
          <a:xfrm rot="0">
            <a:off x="5297620" y="7894004"/>
            <a:ext cx="8139703" cy="1733550"/>
          </a:xfrm>
          <a:prstGeom prst="rect">
            <a:avLst/>
          </a:prstGeom>
        </p:spPr>
        <p:txBody>
          <a:bodyPr anchor="t" rtlCol="false" tIns="0" lIns="0" bIns="0" rIns="0">
            <a:spAutoFit/>
          </a:bodyPr>
          <a:lstStyle/>
          <a:p>
            <a:pPr algn="ctr">
              <a:lnSpc>
                <a:spcPts val="6840"/>
              </a:lnSpc>
            </a:pPr>
            <a:r>
              <a:rPr lang="en-US" sz="5700">
                <a:solidFill>
                  <a:srgbClr val="000000"/>
                </a:solidFill>
                <a:latin typeface="Great Vibes"/>
                <a:ea typeface="Great Vibes"/>
                <a:cs typeface="Great Vibes"/>
                <a:sym typeface="Great Vibes"/>
              </a:rPr>
              <a:t>El episentro del glamur y la transformación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7716026" y="1394056"/>
            <a:ext cx="2349500"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Índice</a:t>
            </a:r>
          </a:p>
        </p:txBody>
      </p:sp>
      <p:sp>
        <p:nvSpPr>
          <p:cNvPr name="AutoShape 4" id="4"/>
          <p:cNvSpPr/>
          <p:nvPr/>
        </p:nvSpPr>
        <p:spPr>
          <a:xfrm rot="19320">
            <a:off x="6987321" y="2259940"/>
            <a:ext cx="3390424" cy="0"/>
          </a:xfrm>
          <a:prstGeom prst="line">
            <a:avLst/>
          </a:prstGeom>
          <a:ln cap="rnd" w="9525">
            <a:solidFill>
              <a:srgbClr val="38AA00"/>
            </a:solidFill>
            <a:prstDash val="solid"/>
            <a:headEnd type="none" len="sm" w="sm"/>
            <a:tailEnd type="none" len="sm" w="sm"/>
          </a:ln>
        </p:spPr>
      </p:sp>
      <p:sp>
        <p:nvSpPr>
          <p:cNvPr name="TextBox 5" id="5"/>
          <p:cNvSpPr txBox="true"/>
          <p:nvPr/>
        </p:nvSpPr>
        <p:spPr>
          <a:xfrm rot="0">
            <a:off x="2695661" y="3551575"/>
            <a:ext cx="7054302" cy="5514975"/>
          </a:xfrm>
          <a:prstGeom prst="rect">
            <a:avLst/>
          </a:prstGeom>
        </p:spPr>
        <p:txBody>
          <a:bodyPr anchor="t" rtlCol="false" tIns="0" lIns="0" bIns="0" rIns="0">
            <a:spAutoFit/>
          </a:bodyPr>
          <a:lstStyle/>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Objetivo general</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Ficha Tecnica</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Casos de Uso</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Normalizacion</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Modelo Entidad Relacion </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Crow fot</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Diccionario de Datos</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Diagrama de clases</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Diagrama de despliegue</a:t>
            </a:r>
          </a:p>
          <a:p>
            <a:pPr algn="l" marL="777235" indent="-388618" lvl="1">
              <a:lnSpc>
                <a:spcPts val="4319"/>
              </a:lnSpc>
              <a:buAutoNum type="arabicPeriod" startAt="1"/>
            </a:pPr>
            <a:r>
              <a:rPr lang="en-US" sz="3599">
                <a:solidFill>
                  <a:srgbClr val="000000"/>
                </a:solidFill>
                <a:latin typeface="Calibri (MS)"/>
                <a:ea typeface="Calibri (MS)"/>
                <a:cs typeface="Calibri (MS)"/>
                <a:sym typeface="Calibri (MS)"/>
              </a:rPr>
              <a:t>Repositorio</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56768" y="864472"/>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Planteamiento del problema</a:t>
            </a:r>
          </a:p>
        </p:txBody>
      </p:sp>
      <p:sp>
        <p:nvSpPr>
          <p:cNvPr name="TextBox 4" id="4"/>
          <p:cNvSpPr txBox="true"/>
          <p:nvPr/>
        </p:nvSpPr>
        <p:spPr>
          <a:xfrm rot="0">
            <a:off x="1643066" y="5641586"/>
            <a:ext cx="15001868" cy="26384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Cita textual de la principal interesada:</a:t>
            </a:r>
          </a:p>
          <a:p>
            <a:pPr algn="l">
              <a:lnSpc>
                <a:spcPts val="4079"/>
              </a:lnSpc>
            </a:pPr>
            <a:r>
              <a:rPr lang="en-US" sz="3399">
                <a:solidFill>
                  <a:srgbClr val="000000"/>
                </a:solidFill>
                <a:latin typeface="Calibri (MS)"/>
                <a:ea typeface="Calibri (MS)"/>
                <a:cs typeface="Calibri (MS)"/>
                <a:sym typeface="Calibri (MS)"/>
              </a:rPr>
              <a:t>"</a:t>
            </a:r>
            <a:r>
              <a:rPr lang="en-US" sz="3399">
                <a:solidFill>
                  <a:srgbClr val="000000"/>
                </a:solidFill>
                <a:latin typeface="Calibri (MS)"/>
                <a:ea typeface="Calibri (MS)"/>
                <a:cs typeface="Calibri (MS)"/>
                <a:sym typeface="Calibri (MS)"/>
              </a:rPr>
              <a:t>Como manejan las citas generalmente por WhatsAp</a:t>
            </a:r>
            <a:r>
              <a:rPr lang="en-US" sz="3399">
                <a:solidFill>
                  <a:srgbClr val="000000"/>
                </a:solidFill>
                <a:latin typeface="Calibri (MS)"/>
                <a:ea typeface="Calibri (MS)"/>
                <a:cs typeface="Calibri (MS)"/>
                <a:sym typeface="Calibri (MS)"/>
              </a:rPr>
              <a:t>p. </a:t>
            </a:r>
            <a:r>
              <a:rPr lang="en-US" sz="3399">
                <a:solidFill>
                  <a:srgbClr val="000000"/>
                </a:solidFill>
                <a:latin typeface="Calibri (MS)"/>
                <a:ea typeface="Calibri (MS)"/>
                <a:cs typeface="Calibri (MS)"/>
                <a:sym typeface="Calibri (MS)"/>
              </a:rPr>
              <a:t>Dificultades para organizar clientes o reservas. La confirmación. La llegada tarde. Han perdido clientes por problemas de agendamiento. Sí, pero muy pocos; generalmente pasan y piden turno y, pues, ya no tengo espacio."</a:t>
            </a:r>
          </a:p>
        </p:txBody>
      </p:sp>
      <p:sp>
        <p:nvSpPr>
          <p:cNvPr name="TextBox 5" id="5"/>
          <p:cNvSpPr txBox="true"/>
          <p:nvPr/>
        </p:nvSpPr>
        <p:spPr>
          <a:xfrm rot="0">
            <a:off x="1652591" y="3374636"/>
            <a:ext cx="15001868" cy="16097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El sistema de información fue planteado para el establecimiento denominado Corte y Stylo. Para ello, se le preguntó a la principal interesada: "¿Qué es lo que más le afectaba al momento de realizar sus actividades cotidianas?"</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1538447"/>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Objetivo general</a:t>
            </a:r>
          </a:p>
        </p:txBody>
      </p:sp>
      <p:sp>
        <p:nvSpPr>
          <p:cNvPr name="TextBox 4" id="4"/>
          <p:cNvSpPr txBox="true"/>
          <p:nvPr/>
        </p:nvSpPr>
        <p:spPr>
          <a:xfrm rot="0">
            <a:off x="2873040" y="3135123"/>
            <a:ext cx="13716966" cy="3826461"/>
          </a:xfrm>
          <a:prstGeom prst="rect">
            <a:avLst/>
          </a:prstGeom>
        </p:spPr>
        <p:txBody>
          <a:bodyPr anchor="t" rtlCol="false" tIns="0" lIns="0" bIns="0" rIns="0">
            <a:spAutoFit/>
          </a:bodyPr>
          <a:lstStyle/>
          <a:p>
            <a:pPr algn="l">
              <a:lnSpc>
                <a:spcPts val="4987"/>
              </a:lnSpc>
            </a:pPr>
            <a:r>
              <a:rPr lang="en-US" sz="4155">
                <a:solidFill>
                  <a:srgbClr val="000000"/>
                </a:solidFill>
                <a:latin typeface="Calibri (MS)"/>
                <a:ea typeface="Calibri (MS)"/>
                <a:cs typeface="Calibri (MS)"/>
                <a:sym typeface="Calibri (MS)"/>
              </a:rPr>
              <a:t>Desarrollar un sistema de información web de gestión integral denominado "Glam Hub", intuitivo y de fácil acceso, que permita digitalizar, optimizar y gestionar eficientemente la información relacionada con los procesos diarios de la estilista, apoyando la toma de decisiones estratégicas y el crecimiento de su emprendimiento.</a:t>
            </a: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Objetivos especificos</a:t>
            </a:r>
          </a:p>
        </p:txBody>
      </p:sp>
      <p:sp>
        <p:nvSpPr>
          <p:cNvPr name="TextBox 4" id="4"/>
          <p:cNvSpPr txBox="true"/>
          <p:nvPr/>
        </p:nvSpPr>
        <p:spPr>
          <a:xfrm rot="0">
            <a:off x="2297268" y="2678335"/>
            <a:ext cx="13855756" cy="280035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Analisis</a:t>
            </a:r>
          </a:p>
          <a:p>
            <a:pPr algn="l">
              <a:lnSpc>
                <a:spcPts val="4319"/>
              </a:lnSpc>
            </a:pPr>
            <a:r>
              <a:rPr lang="en-US" sz="3599">
                <a:solidFill>
                  <a:srgbClr val="000000"/>
                </a:solidFill>
                <a:latin typeface="Calibri (MS)"/>
                <a:ea typeface="Calibri (MS)"/>
                <a:cs typeface="Calibri (MS)"/>
                <a:sym typeface="Calibri (MS)"/>
              </a:rPr>
              <a:t>Identificar y documentar los requerimientos funcionales y no funcionales mediante el levantamiento de información, con el fin de definir el alcance técnico y las herramientas necesarias para mejorar la gestión de citas y finanzas.</a:t>
            </a:r>
          </a:p>
        </p:txBody>
      </p:sp>
      <p:sp>
        <p:nvSpPr>
          <p:cNvPr name="TextBox 5" id="5"/>
          <p:cNvSpPr txBox="true"/>
          <p:nvPr/>
        </p:nvSpPr>
        <p:spPr>
          <a:xfrm rot="0">
            <a:off x="2216122" y="5764435"/>
            <a:ext cx="13855756" cy="280035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Diseño</a:t>
            </a:r>
          </a:p>
          <a:p>
            <a:pPr algn="l">
              <a:lnSpc>
                <a:spcPts val="4319"/>
              </a:lnSpc>
            </a:pPr>
            <a:r>
              <a:rPr lang="en-US" sz="3599">
                <a:solidFill>
                  <a:srgbClr val="000000"/>
                </a:solidFill>
                <a:latin typeface="Calibri (MS)"/>
                <a:ea typeface="Calibri (MS)"/>
                <a:cs typeface="Calibri (MS)"/>
                <a:sym typeface="Calibri (MS)"/>
              </a:rPr>
              <a:t>Modelar la arquitectura del sistema, la base de datos y los </a:t>
            </a:r>
            <a:r>
              <a:rPr lang="en-US" sz="3599">
                <a:solidFill>
                  <a:srgbClr val="000000"/>
                </a:solidFill>
                <a:latin typeface="Calibri (MS)"/>
                <a:ea typeface="Calibri (MS)"/>
                <a:cs typeface="Calibri (MS)"/>
                <a:sym typeface="Calibri (MS)"/>
              </a:rPr>
              <a:t>prototipos UX/UI</a:t>
            </a:r>
            <a:r>
              <a:rPr lang="en-US" sz="3599">
                <a:solidFill>
                  <a:srgbClr val="000000"/>
                </a:solidFill>
                <a:latin typeface="Calibri (MS)"/>
                <a:ea typeface="Calibri (MS)"/>
                <a:cs typeface="Calibri (MS)"/>
                <a:sym typeface="Calibri (MS)"/>
              </a:rPr>
              <a:t> de la plataforma, garantizando una interfaz intuitiva, adaptable a dispositivos móviles y fácil de usar para personas sin conocimientos técnicos.</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Objetivos especificos</a:t>
            </a:r>
          </a:p>
        </p:txBody>
      </p:sp>
      <p:sp>
        <p:nvSpPr>
          <p:cNvPr name="TextBox 4" id="4"/>
          <p:cNvSpPr txBox="true"/>
          <p:nvPr/>
        </p:nvSpPr>
        <p:spPr>
          <a:xfrm rot="0">
            <a:off x="2297268" y="2678335"/>
            <a:ext cx="13855756" cy="22574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Desarrollo </a:t>
            </a:r>
          </a:p>
          <a:p>
            <a:pPr algn="l">
              <a:lnSpc>
                <a:spcPts val="4319"/>
              </a:lnSpc>
            </a:pPr>
            <a:r>
              <a:rPr lang="en-US" sz="3599">
                <a:solidFill>
                  <a:srgbClr val="000000"/>
                </a:solidFill>
                <a:latin typeface="Calibri (MS)"/>
                <a:ea typeface="Calibri (MS)"/>
                <a:cs typeface="Calibri (MS)"/>
                <a:sym typeface="Calibri (MS)"/>
              </a:rPr>
              <a:t>Implementar la lógica de negocio y desarrollar las interfaces de la plataforma, integrando módulos para la gestión de citas, registro financiero, historial de clientes, vitrina de servicios y reportes estadísticos.</a:t>
            </a:r>
          </a:p>
        </p:txBody>
      </p:sp>
      <p:sp>
        <p:nvSpPr>
          <p:cNvPr name="TextBox 5" id="5"/>
          <p:cNvSpPr txBox="true"/>
          <p:nvPr/>
        </p:nvSpPr>
        <p:spPr>
          <a:xfrm rot="0">
            <a:off x="2216122" y="5764435"/>
            <a:ext cx="13855756" cy="22574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Implemetación</a:t>
            </a:r>
          </a:p>
          <a:p>
            <a:pPr algn="l">
              <a:lnSpc>
                <a:spcPts val="4319"/>
              </a:lnSpc>
            </a:pPr>
            <a:r>
              <a:rPr lang="en-US" sz="3599">
                <a:solidFill>
                  <a:srgbClr val="000000"/>
                </a:solidFill>
                <a:latin typeface="Calibri (MS)"/>
                <a:ea typeface="Calibri (MS)"/>
                <a:cs typeface="Calibri (MS)"/>
                <a:sym typeface="Calibri (MS)"/>
              </a:rPr>
              <a:t>Realizar pruebas de calidad y seguridad, desplegar la aplicación web "Glam Hub" y validar su funcionamiento con las usuarias finales, garantizando la correcta digitalización y optimización del negocio.</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2531240" y="1620203"/>
            <a:ext cx="13225519" cy="8090777"/>
          </a:xfrm>
          <a:custGeom>
            <a:avLst/>
            <a:gdLst/>
            <a:ahLst/>
            <a:cxnLst/>
            <a:rect r="r" b="b" t="t" l="l"/>
            <a:pathLst>
              <a:path h="8090777" w="13225519">
                <a:moveTo>
                  <a:pt x="0" y="0"/>
                </a:moveTo>
                <a:lnTo>
                  <a:pt x="13225520" y="0"/>
                </a:lnTo>
                <a:lnTo>
                  <a:pt x="13225520" y="8090776"/>
                </a:lnTo>
                <a:lnTo>
                  <a:pt x="0" y="8090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096000" y="275272"/>
            <a:ext cx="6096000" cy="1344930"/>
          </a:xfrm>
          <a:prstGeom prst="rect">
            <a:avLst/>
          </a:prstGeom>
        </p:spPr>
        <p:txBody>
          <a:bodyPr anchor="t" rtlCol="false" tIns="0" lIns="0" bIns="0" rIns="0">
            <a:spAutoFit/>
          </a:bodyPr>
          <a:lstStyle/>
          <a:p>
            <a:pPr algn="ctr">
              <a:lnSpc>
                <a:spcPts val="10919"/>
              </a:lnSpc>
            </a:pPr>
            <a:r>
              <a:rPr lang="en-US" sz="7800">
                <a:solidFill>
                  <a:srgbClr val="4D4D4C"/>
                </a:solidFill>
                <a:latin typeface="Belleza"/>
                <a:ea typeface="Belleza"/>
                <a:cs typeface="Belleza"/>
                <a:sym typeface="Belleza"/>
              </a:rPr>
              <a:t>Modelo Canvas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Alcance</a:t>
            </a:r>
          </a:p>
        </p:txBody>
      </p:sp>
      <p:sp>
        <p:nvSpPr>
          <p:cNvPr name="TextBox 4" id="4"/>
          <p:cNvSpPr txBox="true"/>
          <p:nvPr/>
        </p:nvSpPr>
        <p:spPr>
          <a:xfrm rot="0">
            <a:off x="2277655" y="2743200"/>
            <a:ext cx="13054702" cy="551497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Funcionalidades </a:t>
            </a:r>
          </a:p>
          <a:p>
            <a:pPr algn="l">
              <a:lnSpc>
                <a:spcPts val="4319"/>
              </a:lnSpc>
            </a:pP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Registro de datos de clientes del establecimiento.</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Vista de los servicios de Cortes y stylos.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Agendamient de citas.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Calendario para el control sobre el tiempo.</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Historial sobre las citas y servicios de cada cliente.</a:t>
            </a:r>
            <a:r>
              <a:rPr lang="en-US" sz="3599">
                <a:solidFill>
                  <a:srgbClr val="000000"/>
                </a:solidFill>
                <a:latin typeface="Calibri (MS)"/>
                <a:ea typeface="Calibri (MS)"/>
                <a:cs typeface="Calibri (MS)"/>
                <a:sym typeface="Calibri (MS)"/>
              </a:rPr>
              <a:t> </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Recordatorios para clientes y los encargada.</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Informes visuales de estadísticas sobre las finanzas del negocio</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Alcance</a:t>
            </a:r>
          </a:p>
        </p:txBody>
      </p:sp>
      <p:sp>
        <p:nvSpPr>
          <p:cNvPr name="TextBox 4" id="4"/>
          <p:cNvSpPr txBox="true"/>
          <p:nvPr/>
        </p:nvSpPr>
        <p:spPr>
          <a:xfrm rot="0">
            <a:off x="1695718" y="2148319"/>
            <a:ext cx="12819213" cy="714375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Excluciones </a:t>
            </a:r>
          </a:p>
          <a:p>
            <a:pPr algn="l">
              <a:lnSpc>
                <a:spcPts val="4319"/>
              </a:lnSpc>
            </a:pP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La inclusión de productos que no se hayan especificado antes.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El sistema no incluirá domicilios.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No tendrá asesoramiento automatizado sobre lo que se muestre en el sistema.</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No Reemplasará la atención y/o agendamiento presencial.</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No realiza transacciones directas en medios de pago. </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No incluye servicios de GPS.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Desarrollo de módulos que integren IA para potenciar. funcionalidades de la página.</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Herramientas o asesoramiento sobre marketing digital.</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Alcance</a:t>
            </a:r>
          </a:p>
        </p:txBody>
      </p:sp>
      <p:sp>
        <p:nvSpPr>
          <p:cNvPr name="TextBox 4" id="4"/>
          <p:cNvSpPr txBox="true"/>
          <p:nvPr/>
        </p:nvSpPr>
        <p:spPr>
          <a:xfrm rot="0">
            <a:off x="2462596" y="3000375"/>
            <a:ext cx="10195710" cy="44291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Tecnologías</a:t>
            </a:r>
          </a:p>
          <a:p>
            <a:pPr algn="l">
              <a:lnSpc>
                <a:spcPts val="4319"/>
              </a:lnSpc>
            </a:pP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Back-</a:t>
            </a:r>
            <a:r>
              <a:rPr lang="en-US" sz="3599">
                <a:solidFill>
                  <a:srgbClr val="000000"/>
                </a:solidFill>
                <a:latin typeface="Calibri (MS)"/>
                <a:ea typeface="Calibri (MS)"/>
                <a:cs typeface="Calibri (MS)"/>
                <a:sym typeface="Calibri (MS)"/>
              </a:rPr>
              <a:t>end: Html5, CSS3, JavaScript.</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Frameworks</a:t>
            </a:r>
          </a:p>
          <a:p>
            <a:pPr algn="l">
              <a:lnSpc>
                <a:spcPts val="4319"/>
              </a:lnSpc>
            </a:pPr>
            <a:r>
              <a:rPr lang="en-US" sz="3599">
                <a:solidFill>
                  <a:srgbClr val="000000"/>
                </a:solidFill>
                <a:latin typeface="Calibri (MS)"/>
                <a:ea typeface="Calibri (MS)"/>
                <a:cs typeface="Calibri (MS)"/>
                <a:sym typeface="Calibri (MS)"/>
              </a:rPr>
              <a:t>            </a:t>
            </a:r>
            <a:r>
              <a:rPr lang="en-US" sz="3599">
                <a:solidFill>
                  <a:srgbClr val="000000"/>
                </a:solidFill>
                <a:latin typeface="Calibri (MS)"/>
                <a:ea typeface="Calibri (MS)"/>
                <a:cs typeface="Calibri (MS)"/>
                <a:sym typeface="Calibri (MS)"/>
              </a:rPr>
              <a:t>Front-end: Reac</a:t>
            </a:r>
          </a:p>
          <a:p>
            <a:pPr algn="l">
              <a:lnSpc>
                <a:spcPts val="4319"/>
              </a:lnSpc>
            </a:pPr>
            <a:r>
              <a:rPr lang="en-US" sz="3599">
                <a:solidFill>
                  <a:srgbClr val="000000"/>
                </a:solidFill>
                <a:latin typeface="Calibri (MS)"/>
                <a:ea typeface="Calibri (MS)"/>
                <a:cs typeface="Calibri (MS)"/>
                <a:sym typeface="Calibri (MS)"/>
              </a:rPr>
              <a:t>            Back-end: Node JS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Gestor de base datos: No SQL, Mongodb.</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Justificación</a:t>
            </a:r>
          </a:p>
        </p:txBody>
      </p:sp>
      <p:sp>
        <p:nvSpPr>
          <p:cNvPr name="TextBox 4" id="4"/>
          <p:cNvSpPr txBox="true"/>
          <p:nvPr/>
        </p:nvSpPr>
        <p:spPr>
          <a:xfrm rot="0">
            <a:off x="2035067" y="1619556"/>
            <a:ext cx="13554422" cy="46958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Razones estratégicas</a:t>
            </a:r>
          </a:p>
          <a:p>
            <a:pPr algn="l" marL="734056" indent="-367028" lvl="1">
              <a:lnSpc>
                <a:spcPts val="4079"/>
              </a:lnSpc>
              <a:buFont typeface="Arial"/>
              <a:buChar char="•"/>
            </a:pPr>
            <a:r>
              <a:rPr lang="en-US" sz="3399">
                <a:solidFill>
                  <a:srgbClr val="000000"/>
                </a:solidFill>
                <a:latin typeface="Calibri (MS)"/>
                <a:ea typeface="Calibri (MS)"/>
                <a:cs typeface="Calibri (MS)"/>
                <a:sym typeface="Calibri (MS)"/>
              </a:rPr>
              <a:t>Ofrecer un medio digital sencillo y práctico para dar a conocer el negocio en internet.</a:t>
            </a:r>
          </a:p>
          <a:p>
            <a:pPr algn="l" marL="734056" indent="-367028" lvl="1">
              <a:lnSpc>
                <a:spcPts val="4079"/>
              </a:lnSpc>
              <a:buFont typeface="Arial"/>
              <a:buChar char="•"/>
            </a:pPr>
            <a:r>
              <a:rPr lang="en-US" sz="3399">
                <a:solidFill>
                  <a:srgbClr val="000000"/>
                </a:solidFill>
                <a:latin typeface="Calibri (MS)"/>
                <a:ea typeface="Calibri (MS)"/>
                <a:cs typeface="Calibri (MS)"/>
                <a:sym typeface="Calibri (MS)"/>
              </a:rPr>
              <a:t>Reducir la pérdida de ingresos causada por el manejo tradicional de citas mediante WhatsApp, mejorando la comunicación con los clientes.</a:t>
            </a:r>
          </a:p>
          <a:p>
            <a:pPr algn="l" marL="734056" indent="-367028" lvl="1">
              <a:lnSpc>
                <a:spcPts val="4079"/>
              </a:lnSpc>
              <a:buFont typeface="Arial"/>
              <a:buChar char="•"/>
            </a:pPr>
            <a:r>
              <a:rPr lang="en-US" sz="3399">
                <a:solidFill>
                  <a:srgbClr val="000000"/>
                </a:solidFill>
                <a:latin typeface="Calibri (MS)"/>
                <a:ea typeface="Calibri (MS)"/>
                <a:cs typeface="Calibri (MS)"/>
                <a:sym typeface="Calibri (MS)"/>
              </a:rPr>
              <a:t>Implementar herramientas semiautomatizadas para la gestión financiera, facilitando el control del negocio y el acceso a la información para clientes y encargados.</a:t>
            </a:r>
          </a:p>
          <a:p>
            <a:pPr algn="l">
              <a:lnSpc>
                <a:spcPts val="4079"/>
              </a:lnSpc>
            </a:pPr>
          </a:p>
        </p:txBody>
      </p:sp>
      <p:sp>
        <p:nvSpPr>
          <p:cNvPr name="TextBox 5" id="5"/>
          <p:cNvSpPr txBox="true"/>
          <p:nvPr/>
        </p:nvSpPr>
        <p:spPr>
          <a:xfrm rot="0">
            <a:off x="2035067" y="6359156"/>
            <a:ext cx="13554422" cy="26384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Ventajas competitivas</a:t>
            </a:r>
          </a:p>
          <a:p>
            <a:pPr algn="l">
              <a:lnSpc>
                <a:spcPts val="4079"/>
              </a:lnSpc>
            </a:pPr>
            <a:r>
              <a:rPr lang="en-US" sz="3399">
                <a:solidFill>
                  <a:srgbClr val="000000"/>
                </a:solidFill>
                <a:latin typeface="Calibri (MS)"/>
                <a:ea typeface="Calibri (MS)"/>
                <a:cs typeface="Calibri (MS)"/>
                <a:sym typeface="Calibri (MS)"/>
              </a:rPr>
              <a:t>La implementación de este sistema permitirá ofrecer un servicio más organizado, eficiente y cómodo, mejorando la atención y la experiencia del cliente. Además, "Glam Hub" se diferencia de otras plataformas al brindar soluciones adaptadas a las necesidades de pequeños emprendimientos.</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Justificación</a:t>
            </a:r>
          </a:p>
        </p:txBody>
      </p:sp>
      <p:sp>
        <p:nvSpPr>
          <p:cNvPr name="TextBox 4" id="4"/>
          <p:cNvSpPr txBox="true"/>
          <p:nvPr/>
        </p:nvSpPr>
        <p:spPr>
          <a:xfrm rot="0">
            <a:off x="2297268" y="2233662"/>
            <a:ext cx="13297290" cy="605790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Riesgo de inacción</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Mantener la falta de organización y control de los procesos del negocio, limitando su crecimiento y competitividad.</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Continuar con pérdidas ocasionadas por la ausencia de una herramienta que optimice la gestión de citas y finanzas.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Perder oportunidades de fortalecer la presencia digital del establecimiento más allá de los medios de comunicación actuales.</a:t>
            </a:r>
          </a:p>
          <a:p>
            <a:pPr algn="l" marL="777235" indent="-388618" lvl="1">
              <a:lnSpc>
                <a:spcPts val="4319"/>
              </a:lnSpc>
              <a:buFont typeface="Arial"/>
              <a:buChar char="•"/>
            </a:pPr>
            <a:r>
              <a:rPr lang="en-US" sz="3599">
                <a:solidFill>
                  <a:srgbClr val="000000"/>
                </a:solidFill>
                <a:latin typeface="Calibri (MS)"/>
                <a:ea typeface="Calibri (MS)"/>
                <a:cs typeface="Calibri (MS)"/>
                <a:sym typeface="Calibri (MS)"/>
              </a:rPr>
              <a:t>En el futuro, implementar una solución tecnológica podría implicar un mayor costo y complejidad.</a:t>
            </a:r>
          </a:p>
          <a:p>
            <a:pPr algn="l">
              <a:lnSpc>
                <a:spcPts val="4319"/>
              </a:lnSpc>
            </a:pP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03443"/>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Impacto</a:t>
            </a:r>
          </a:p>
        </p:txBody>
      </p:sp>
      <p:sp>
        <p:nvSpPr>
          <p:cNvPr name="TextBox 4" id="4"/>
          <p:cNvSpPr txBox="true"/>
          <p:nvPr/>
        </p:nvSpPr>
        <p:spPr>
          <a:xfrm rot="0">
            <a:off x="10311780" y="1990725"/>
            <a:ext cx="7550839" cy="623887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4. Visibilidad: Fortalece la presencia digital del negocio, ayudando a atraer nuevos clientes y fidelizar a los actuales.</a:t>
            </a:r>
          </a:p>
          <a:p>
            <a:pPr algn="l">
              <a:lnSpc>
                <a:spcPts val="4079"/>
              </a:lnSpc>
            </a:pPr>
            <a:r>
              <a:rPr lang="en-US" sz="3399">
                <a:solidFill>
                  <a:srgbClr val="000000"/>
                </a:solidFill>
                <a:latin typeface="Calibri (MS)"/>
                <a:ea typeface="Calibri (MS)"/>
                <a:cs typeface="Calibri (MS)"/>
                <a:sym typeface="Calibri (MS)"/>
              </a:rPr>
              <a:t>5. Toma de decisiones: Facil</a:t>
            </a:r>
            <a:r>
              <a:rPr lang="en-US" sz="3399">
                <a:solidFill>
                  <a:srgbClr val="000000"/>
                </a:solidFill>
                <a:latin typeface="Calibri (MS)"/>
                <a:ea typeface="Calibri (MS)"/>
                <a:cs typeface="Calibri (MS)"/>
                <a:sym typeface="Calibri (MS)"/>
              </a:rPr>
              <a:t>ita la t</a:t>
            </a:r>
            <a:r>
              <a:rPr lang="en-US" sz="3399">
                <a:solidFill>
                  <a:srgbClr val="000000"/>
                </a:solidFill>
                <a:latin typeface="Calibri (MS)"/>
                <a:ea typeface="Calibri (MS)"/>
                <a:cs typeface="Calibri (MS)"/>
                <a:sym typeface="Calibri (MS)"/>
              </a:rPr>
              <a:t>oma de decisiones mediante reportes y datos reales que apoyan el crecimiento del emprendimiento.</a:t>
            </a:r>
          </a:p>
          <a:p>
            <a:pPr algn="l">
              <a:lnSpc>
                <a:spcPts val="4079"/>
              </a:lnSpc>
            </a:pPr>
            <a:r>
              <a:rPr lang="en-US" sz="3399">
                <a:solidFill>
                  <a:srgbClr val="000000"/>
                </a:solidFill>
                <a:latin typeface="Calibri (MS)"/>
                <a:ea typeface="Calibri (MS)"/>
                <a:cs typeface="Calibri (MS)"/>
                <a:sym typeface="Calibri (MS)"/>
              </a:rPr>
              <a:t>6. Reputación y mejora continua: Permite re</a:t>
            </a:r>
            <a:r>
              <a:rPr lang="en-US" sz="3399">
                <a:solidFill>
                  <a:srgbClr val="000000"/>
                </a:solidFill>
                <a:latin typeface="Calibri (MS)"/>
                <a:ea typeface="Calibri (MS)"/>
                <a:cs typeface="Calibri (MS)"/>
                <a:sym typeface="Calibri (MS)"/>
              </a:rPr>
              <a:t>copilar </a:t>
            </a:r>
            <a:r>
              <a:rPr lang="en-US" sz="3399">
                <a:solidFill>
                  <a:srgbClr val="000000"/>
                </a:solidFill>
                <a:latin typeface="Calibri (MS)"/>
                <a:ea typeface="Calibri (MS)"/>
                <a:cs typeface="Calibri (MS)"/>
                <a:sym typeface="Calibri (MS)"/>
              </a:rPr>
              <a:t>la opinión de los clientes para mejorar el servicio y fortalecer la reputación del negocio.</a:t>
            </a:r>
          </a:p>
          <a:p>
            <a:pPr algn="l">
              <a:lnSpc>
                <a:spcPts val="4079"/>
              </a:lnSpc>
            </a:pPr>
          </a:p>
        </p:txBody>
      </p:sp>
      <p:sp>
        <p:nvSpPr>
          <p:cNvPr name="TextBox 5" id="5"/>
          <p:cNvSpPr txBox="true"/>
          <p:nvPr/>
        </p:nvSpPr>
        <p:spPr>
          <a:xfrm rot="0">
            <a:off x="797773" y="1990725"/>
            <a:ext cx="7613669" cy="7267575"/>
          </a:xfrm>
          <a:prstGeom prst="rect">
            <a:avLst/>
          </a:prstGeom>
        </p:spPr>
        <p:txBody>
          <a:bodyPr anchor="t" rtlCol="false" tIns="0" lIns="0" bIns="0" rIns="0">
            <a:spAutoFit/>
          </a:bodyPr>
          <a:lstStyle/>
          <a:p>
            <a:pPr algn="l" marL="734059" indent="-367030" lvl="1">
              <a:lnSpc>
                <a:spcPts val="4079"/>
              </a:lnSpc>
              <a:buAutoNum type="arabicPeriod" startAt="1"/>
            </a:pPr>
            <a:r>
              <a:rPr lang="en-US" sz="3399">
                <a:solidFill>
                  <a:srgbClr val="000000"/>
                </a:solidFill>
                <a:latin typeface="Calibri (MS)"/>
                <a:ea typeface="Calibri (MS)"/>
                <a:cs typeface="Calibri (MS)"/>
                <a:sym typeface="Calibri (MS)"/>
              </a:rPr>
              <a:t>Tiempo:</a:t>
            </a:r>
            <a:r>
              <a:rPr lang="en-US" sz="3399">
                <a:solidFill>
                  <a:srgbClr val="000000"/>
                </a:solidFill>
                <a:latin typeface="Calibri (MS)"/>
                <a:ea typeface="Calibri (MS)"/>
                <a:cs typeface="Calibri (MS)"/>
                <a:sym typeface="Calibri (MS)"/>
              </a:rPr>
              <a:t> R</a:t>
            </a:r>
            <a:r>
              <a:rPr lang="en-US" sz="3399">
                <a:solidFill>
                  <a:srgbClr val="000000"/>
                </a:solidFill>
                <a:latin typeface="Calibri (MS)"/>
                <a:ea typeface="Calibri (MS)"/>
                <a:cs typeface="Calibri (MS)"/>
                <a:sym typeface="Calibri (MS)"/>
              </a:rPr>
              <a:t>educe el tiempo dedicado a tareas administrativas y evita errores, como la asignación de citas en horarios duplicados.</a:t>
            </a:r>
          </a:p>
          <a:p>
            <a:pPr algn="l" marL="734059" indent="-367030" lvl="1">
              <a:lnSpc>
                <a:spcPts val="4079"/>
              </a:lnSpc>
              <a:buAutoNum type="arabicPeriod" startAt="1"/>
            </a:pPr>
            <a:r>
              <a:rPr lang="en-US" sz="3399">
                <a:solidFill>
                  <a:srgbClr val="000000"/>
                </a:solidFill>
                <a:latin typeface="Calibri (MS)"/>
                <a:ea typeface="Calibri (MS)"/>
                <a:cs typeface="Calibri (MS)"/>
                <a:sym typeface="Calibri (MS)"/>
              </a:rPr>
              <a:t>E</a:t>
            </a:r>
            <a:r>
              <a:rPr lang="en-US" sz="3399">
                <a:solidFill>
                  <a:srgbClr val="000000"/>
                </a:solidFill>
                <a:latin typeface="Calibri (MS)"/>
                <a:ea typeface="Calibri (MS)"/>
                <a:cs typeface="Calibri (MS)"/>
                <a:sym typeface="Calibri (MS)"/>
              </a:rPr>
              <a:t>xperiencia del cliente (</a:t>
            </a:r>
            <a:r>
              <a:rPr lang="en-US" sz="3399">
                <a:solidFill>
                  <a:srgbClr val="000000"/>
                </a:solidFill>
                <a:latin typeface="Calibri (MS)"/>
                <a:ea typeface="Calibri (MS)"/>
                <a:cs typeface="Calibri (MS)"/>
                <a:sym typeface="Calibri (MS)"/>
              </a:rPr>
              <a:t>CRM</a:t>
            </a:r>
            <a:r>
              <a:rPr lang="en-US" sz="3399">
                <a:solidFill>
                  <a:srgbClr val="000000"/>
                </a:solidFill>
                <a:latin typeface="Calibri (MS)"/>
                <a:ea typeface="Calibri (MS)"/>
                <a:cs typeface="Calibri (MS)"/>
                <a:sym typeface="Calibri (MS)"/>
              </a:rPr>
              <a:t>)</a:t>
            </a:r>
            <a:r>
              <a:rPr lang="en-US" sz="3399">
                <a:solidFill>
                  <a:srgbClr val="000000"/>
                </a:solidFill>
                <a:latin typeface="Calibri (MS)"/>
                <a:ea typeface="Calibri (MS)"/>
                <a:cs typeface="Calibri (MS)"/>
                <a:sym typeface="Calibri (MS)"/>
              </a:rPr>
              <a:t>: Mej</a:t>
            </a:r>
            <a:r>
              <a:rPr lang="en-US" sz="3399">
                <a:solidFill>
                  <a:srgbClr val="000000"/>
                </a:solidFill>
                <a:latin typeface="Calibri (MS)"/>
                <a:ea typeface="Calibri (MS)"/>
                <a:cs typeface="Calibri (MS)"/>
                <a:sym typeface="Calibri (MS)"/>
              </a:rPr>
              <a:t>ora la atención con un servicio más organizado, ágil y personalizado, fortaleciendo la fidelización de los clientes.</a:t>
            </a:r>
          </a:p>
          <a:p>
            <a:pPr algn="l" marL="734059" indent="-367030" lvl="1">
              <a:lnSpc>
                <a:spcPts val="4079"/>
              </a:lnSpc>
              <a:buAutoNum type="arabicPeriod" startAt="1"/>
            </a:pPr>
            <a:r>
              <a:rPr lang="en-US" sz="3399">
                <a:solidFill>
                  <a:srgbClr val="000000"/>
                </a:solidFill>
                <a:latin typeface="Calibri (MS)"/>
                <a:ea typeface="Calibri (MS)"/>
                <a:cs typeface="Calibri (MS)"/>
                <a:sym typeface="Calibri (MS)"/>
              </a:rPr>
              <a:t>Finanzas:</a:t>
            </a:r>
            <a:r>
              <a:rPr lang="en-US" sz="3399">
                <a:solidFill>
                  <a:srgbClr val="000000"/>
                </a:solidFill>
                <a:latin typeface="Calibri (MS)"/>
                <a:ea typeface="Calibri (MS)"/>
                <a:cs typeface="Calibri (MS)"/>
                <a:sym typeface="Calibri (MS)"/>
              </a:rPr>
              <a:t> </a:t>
            </a:r>
            <a:r>
              <a:rPr lang="en-US" sz="3399">
                <a:solidFill>
                  <a:srgbClr val="000000"/>
                </a:solidFill>
                <a:latin typeface="Calibri (MS)"/>
                <a:ea typeface="Calibri (MS)"/>
                <a:cs typeface="Calibri (MS)"/>
                <a:sym typeface="Calibri (MS)"/>
              </a:rPr>
              <a:t>Facilita e</a:t>
            </a:r>
            <a:r>
              <a:rPr lang="en-US" sz="3399">
                <a:solidFill>
                  <a:srgbClr val="000000"/>
                </a:solidFill>
                <a:latin typeface="Calibri (MS)"/>
                <a:ea typeface="Calibri (MS)"/>
                <a:cs typeface="Calibri (MS)"/>
                <a:sym typeface="Calibri (MS)"/>
              </a:rPr>
              <a:t>l control de ingresos y egresos, reduciendo el tiempo de revisión y mejorando la organización financiera.</a:t>
            </a:r>
          </a:p>
          <a:p>
            <a:pPr algn="l">
              <a:lnSpc>
                <a:spcPts val="4079"/>
              </a:lnSpc>
            </a:pP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280035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Diagrama de procesos del negocio</a:t>
            </a:r>
          </a:p>
          <a:p>
            <a:pPr algn="l">
              <a:lnSpc>
                <a:spcPts val="4319"/>
              </a:lnSpc>
            </a:pPr>
            <a:r>
              <a:rPr lang="en-US" sz="3599">
                <a:solidFill>
                  <a:srgbClr val="000000"/>
                </a:solidFill>
                <a:latin typeface="Calibri (MS)"/>
                <a:ea typeface="Calibri (MS)"/>
                <a:cs typeface="Calibri (MS)"/>
                <a:sym typeface="Calibri (MS)"/>
              </a:rPr>
              <a:t>En este apartado se presenta el diagrama de procesos del negocio, </a:t>
            </a:r>
          </a:p>
          <a:p>
            <a:pPr algn="l">
              <a:lnSpc>
                <a:spcPts val="4319"/>
              </a:lnSpc>
            </a:pPr>
            <a:r>
              <a:rPr lang="en-US" sz="3599">
                <a:solidFill>
                  <a:srgbClr val="000000"/>
                </a:solidFill>
                <a:latin typeface="Calibri (MS)"/>
                <a:ea typeface="Calibri (MS)"/>
                <a:cs typeface="Calibri (MS)"/>
                <a:sym typeface="Calibri (MS)"/>
              </a:rPr>
              <a:t>Este diagrama permite comprender el flujo de trabajo actual y facilita la identificación de mejoras mediante la implementación del sistema “Glam Hub”.</a:t>
            </a: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4134607" y="5753362"/>
            <a:ext cx="7653218" cy="1153032"/>
          </a:xfrm>
          <a:prstGeom prst="rect">
            <a:avLst/>
          </a:prstGeom>
        </p:spPr>
        <p:txBody>
          <a:bodyPr anchor="t" rtlCol="false" tIns="0" lIns="0" bIns="0" rIns="0">
            <a:spAutoFit/>
          </a:bodyPr>
          <a:lstStyle/>
          <a:p>
            <a:pPr algn="l">
              <a:lnSpc>
                <a:spcPts val="8897"/>
              </a:lnSpc>
            </a:pPr>
            <a:r>
              <a:rPr lang="en-US" sz="6355" u="sng">
                <a:solidFill>
                  <a:srgbClr val="805F7B"/>
                </a:solidFill>
                <a:latin typeface="Bryndan Write"/>
                <a:ea typeface="Bryndan Write"/>
                <a:cs typeface="Bryndan Write"/>
                <a:sym typeface="Bryndan Write"/>
                <a:hlinkClick r:id="rId4" tooltip="https://miro.com/app/board/uXjVG-0Odw4=/"/>
              </a:rPr>
              <a:t>Diagrama de procesos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60383" y="878336"/>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2786626"/>
            <a:ext cx="12541920" cy="551497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Levantamiento de Datos</a:t>
            </a:r>
          </a:p>
          <a:p>
            <a:pPr algn="l">
              <a:lnSpc>
                <a:spcPts val="4319"/>
              </a:lnSpc>
            </a:pPr>
            <a:r>
              <a:rPr lang="en-US" sz="3599">
                <a:solidFill>
                  <a:srgbClr val="000000"/>
                </a:solidFill>
                <a:latin typeface="Calibri (MS)"/>
                <a:ea typeface="Calibri (MS)"/>
                <a:cs typeface="Calibri (MS)"/>
                <a:sym typeface="Calibri (MS)"/>
              </a:rPr>
              <a:t>Se aplicó una encuesta a 30 clientes con el propósito de recolectar información sobre sus necesidades, preferencias y nivel de satisfacción frente al servicio actual. Asimismo, se realizó una entrevista semiestructurada a la dueña del negocio, quien actúa como principal interesada, con el fin de profundizar en las problemáticas, procesos actuales y expectativas frente a la implementación del sistema.</a:t>
            </a:r>
          </a:p>
          <a:p>
            <a:pPr algn="l">
              <a:lnSpc>
                <a:spcPts val="4319"/>
              </a:lnSpc>
            </a:pPr>
          </a:p>
          <a:p>
            <a:pPr algn="l">
              <a:lnSpc>
                <a:spcPts val="4319"/>
              </a:lnSpc>
            </a:pPr>
          </a:p>
        </p:txBody>
      </p:sp>
      <p:sp>
        <p:nvSpPr>
          <p:cNvPr name="TextBox 5" id="5"/>
          <p:cNvSpPr txBox="true"/>
          <p:nvPr/>
        </p:nvSpPr>
        <p:spPr>
          <a:xfrm rot="0">
            <a:off x="4144810" y="7732022"/>
            <a:ext cx="8846835" cy="1150706"/>
          </a:xfrm>
          <a:prstGeom prst="rect">
            <a:avLst/>
          </a:prstGeom>
        </p:spPr>
        <p:txBody>
          <a:bodyPr anchor="t" rtlCol="false" tIns="0" lIns="0" bIns="0" rIns="0">
            <a:spAutoFit/>
          </a:bodyPr>
          <a:lstStyle/>
          <a:p>
            <a:pPr algn="l">
              <a:lnSpc>
                <a:spcPts val="8897"/>
              </a:lnSpc>
            </a:pPr>
            <a:r>
              <a:rPr lang="en-US" sz="6355" u="sng">
                <a:solidFill>
                  <a:srgbClr val="805F7B"/>
                </a:solidFill>
                <a:latin typeface="Bryndan Write"/>
                <a:ea typeface="Bryndan Write"/>
                <a:cs typeface="Bryndan Write"/>
                <a:sym typeface="Bryndan Write"/>
                <a:hlinkClick r:id="rId3" tooltip="https://docs.google.com/document/d/1HMum2lrPDCqFRElJTxpUOdmIZVCufch7z6xqe4i8atE/edit?usp=sharing"/>
              </a:rPr>
              <a:t>Levantamiento de datos </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1253483" y="2039525"/>
            <a:ext cx="16350602" cy="4410075"/>
          </a:xfrm>
          <a:prstGeom prst="rect">
            <a:avLst/>
          </a:prstGeom>
        </p:spPr>
        <p:txBody>
          <a:bodyPr anchor="t" rtlCol="false" tIns="0" lIns="0" bIns="0" rIns="0">
            <a:spAutoFit/>
          </a:bodyPr>
          <a:lstStyle/>
          <a:p>
            <a:pPr algn="l">
              <a:lnSpc>
                <a:spcPts val="4320"/>
              </a:lnSpc>
            </a:pPr>
            <a:r>
              <a:rPr lang="en-US" sz="3600" b="true">
                <a:solidFill>
                  <a:srgbClr val="000000"/>
                </a:solidFill>
                <a:latin typeface="Calibri (MS) Bold"/>
                <a:ea typeface="Calibri (MS) Bold"/>
                <a:cs typeface="Calibri (MS) Bold"/>
                <a:sym typeface="Calibri (MS) Bold"/>
              </a:rPr>
              <a:t>Requisitos Funcionales y No Funcionales</a:t>
            </a:r>
          </a:p>
          <a:p>
            <a:pPr algn="l">
              <a:lnSpc>
                <a:spcPts val="4320"/>
              </a:lnSpc>
            </a:pPr>
            <a:r>
              <a:rPr lang="en-US" sz="3600">
                <a:solidFill>
                  <a:srgbClr val="000000"/>
                </a:solidFill>
                <a:latin typeface="Calibri (MS)"/>
                <a:ea typeface="Calibri (MS)"/>
                <a:cs typeface="Calibri (MS)"/>
                <a:sym typeface="Calibri (MS)"/>
              </a:rPr>
              <a:t>En este apartado se presentan los requisitos definidos a partir de la información recopilada. Los requisitos funcionales describen las funciones que debe ofrecer el sistema, como la gestión de citas, el control financiero, el registro de clientes y el catálogo de servicios. Por su parte, los requisitos no funcionales establecen aspectos de calidad como la usabilidad, el rendimiento, la seguridad y la accesibilidad, garantizando un sistema eficiente y confiable.</a:t>
            </a:r>
          </a:p>
          <a:p>
            <a:pPr algn="l">
              <a:lnSpc>
                <a:spcPts val="4320"/>
              </a:lnSpc>
            </a:pPr>
          </a:p>
        </p:txBody>
      </p:sp>
      <p:sp>
        <p:nvSpPr>
          <p:cNvPr name="TextBox 5" id="5"/>
          <p:cNvSpPr txBox="true"/>
          <p:nvPr/>
        </p:nvSpPr>
        <p:spPr>
          <a:xfrm rot="0">
            <a:off x="1253483" y="7786376"/>
            <a:ext cx="16350602"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3" tooltip="https://docs.google.com/spreadsheets/d/1tRxK4Y3JBU0dIsppEAPIK5jJKmKtsMxNeZdOZPPmNck/edit?gid=823501958#gid=823501958"/>
              </a:rPr>
              <a:t>Requisitos Funcionales y No Funcionales </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1253483" y="2039525"/>
            <a:ext cx="14393826" cy="2238375"/>
          </a:xfrm>
          <a:prstGeom prst="rect">
            <a:avLst/>
          </a:prstGeom>
        </p:spPr>
        <p:txBody>
          <a:bodyPr anchor="t" rtlCol="false" tIns="0" lIns="0" bIns="0" rIns="0">
            <a:spAutoFit/>
          </a:bodyPr>
          <a:lstStyle/>
          <a:p>
            <a:pPr algn="l">
              <a:lnSpc>
                <a:spcPts val="4320"/>
              </a:lnSpc>
            </a:pPr>
            <a:r>
              <a:rPr lang="en-US" sz="3600" b="true">
                <a:solidFill>
                  <a:srgbClr val="000000"/>
                </a:solidFill>
                <a:latin typeface="Calibri (MS) Bold"/>
                <a:ea typeface="Calibri (MS) Bold"/>
                <a:cs typeface="Calibri (MS) Bold"/>
                <a:sym typeface="Calibri (MS) Bold"/>
              </a:rPr>
              <a:t>Historias de usuario</a:t>
            </a:r>
          </a:p>
          <a:p>
            <a:pPr algn="l">
              <a:lnSpc>
                <a:spcPts val="4320"/>
              </a:lnSpc>
            </a:pPr>
            <a:r>
              <a:rPr lang="en-US" sz="3600">
                <a:solidFill>
                  <a:srgbClr val="000000"/>
                </a:solidFill>
                <a:latin typeface="Calibri (MS)"/>
                <a:ea typeface="Calibri (MS)"/>
                <a:cs typeface="Calibri (MS)"/>
                <a:sym typeface="Calibri (MS)"/>
              </a:rPr>
              <a:t>Formato que permie tener una visiòn clara sobre el funcionamiento del sistema desde el punto de vista de las usuarios dando previsivilidad de como va a funcionar  y los diferentes apartados y para cada tipo de usuario.</a:t>
            </a:r>
          </a:p>
        </p:txBody>
      </p:sp>
      <p:sp>
        <p:nvSpPr>
          <p:cNvPr name="TextBox 5" id="5"/>
          <p:cNvSpPr txBox="true"/>
          <p:nvPr/>
        </p:nvSpPr>
        <p:spPr>
          <a:xfrm rot="0">
            <a:off x="1028700" y="5964349"/>
            <a:ext cx="16350602" cy="1227456"/>
          </a:xfrm>
          <a:prstGeom prst="rect">
            <a:avLst/>
          </a:prstGeom>
        </p:spPr>
        <p:txBody>
          <a:bodyPr anchor="t" rtlCol="false" tIns="0" lIns="0" bIns="0" rIns="0">
            <a:spAutoFit/>
          </a:bodyPr>
          <a:lstStyle/>
          <a:p>
            <a:pPr algn="ctr">
              <a:lnSpc>
                <a:spcPts val="9519"/>
              </a:lnSpc>
            </a:pPr>
            <a:r>
              <a:rPr lang="en-US" sz="6799" u="sng">
                <a:solidFill>
                  <a:srgbClr val="805F7B"/>
                </a:solidFill>
                <a:latin typeface="Bryndan Write"/>
                <a:ea typeface="Bryndan Write"/>
                <a:cs typeface="Bryndan Write"/>
                <a:sym typeface="Bryndan Write"/>
                <a:hlinkClick r:id="rId3" tooltip="https://docs.google.com/spreadsheets/d/1tRxK4Y3JBU0dIsppEAPIK5jJKmKtsMxNeZdOZPPmNck/edit?gid=1094186016#gid=1094186016"/>
              </a:rPr>
              <a:t>Historias  de usuario </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2297268" y="3902259"/>
            <a:ext cx="12277457" cy="5356041"/>
          </a:xfrm>
          <a:custGeom>
            <a:avLst/>
            <a:gdLst/>
            <a:ahLst/>
            <a:cxnLst/>
            <a:rect r="r" b="b" t="t" l="l"/>
            <a:pathLst>
              <a:path h="5356041" w="12277457">
                <a:moveTo>
                  <a:pt x="0" y="0"/>
                </a:moveTo>
                <a:lnTo>
                  <a:pt x="12277457" y="0"/>
                </a:lnTo>
                <a:lnTo>
                  <a:pt x="12277457" y="5356041"/>
                </a:lnTo>
                <a:lnTo>
                  <a:pt x="0" y="5356041"/>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895624"/>
            <a:ext cx="12541920" cy="171450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Mockups</a:t>
            </a:r>
          </a:p>
          <a:p>
            <a:pPr algn="l">
              <a:lnSpc>
                <a:spcPts val="4319"/>
              </a:lnSpc>
            </a:pPr>
          </a:p>
          <a:p>
            <a:pPr algn="l">
              <a:lnSpc>
                <a:spcPts val="4319"/>
              </a:lnSpc>
            </a:pPr>
            <a:r>
              <a:rPr lang="en-US" sz="3599">
                <a:solidFill>
                  <a:srgbClr val="000000"/>
                </a:solidFill>
                <a:latin typeface="Calibri (MS)"/>
                <a:ea typeface="Calibri (MS)"/>
                <a:cs typeface="Calibri (MS)"/>
                <a:sym typeface="Calibri (MS)"/>
              </a:rPr>
              <a:t>Previa visualización del sistema de parte del usuario o el Front-end.</a:t>
            </a:r>
          </a:p>
        </p:txBody>
      </p:sp>
      <p:sp>
        <p:nvSpPr>
          <p:cNvPr name="TextBox 7" id="7"/>
          <p:cNvSpPr txBox="true"/>
          <p:nvPr/>
        </p:nvSpPr>
        <p:spPr>
          <a:xfrm rot="0">
            <a:off x="2543852" y="9333894"/>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Inicio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4471590" y="1861764"/>
            <a:ext cx="9118065" cy="7925905"/>
          </a:xfrm>
          <a:custGeom>
            <a:avLst/>
            <a:gdLst/>
            <a:ahLst/>
            <a:cxnLst/>
            <a:rect r="r" b="b" t="t" l="l"/>
            <a:pathLst>
              <a:path h="7925905" w="9118065">
                <a:moveTo>
                  <a:pt x="0" y="0"/>
                </a:moveTo>
                <a:lnTo>
                  <a:pt x="9118065" y="0"/>
                </a:lnTo>
                <a:lnTo>
                  <a:pt x="9118065" y="7925905"/>
                </a:lnTo>
                <a:lnTo>
                  <a:pt x="0" y="7925905"/>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109537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Registro</a:t>
            </a:r>
          </a:p>
          <a:p>
            <a:pPr algn="l">
              <a:lnSpc>
                <a:spcPts val="4079"/>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6593038" y="1582960"/>
            <a:ext cx="5449010" cy="8256495"/>
          </a:xfrm>
          <a:custGeom>
            <a:avLst/>
            <a:gdLst/>
            <a:ahLst/>
            <a:cxnLst/>
            <a:rect r="r" b="b" t="t" l="l"/>
            <a:pathLst>
              <a:path h="8256495" w="5449010">
                <a:moveTo>
                  <a:pt x="0" y="0"/>
                </a:moveTo>
                <a:lnTo>
                  <a:pt x="5449010" y="0"/>
                </a:lnTo>
                <a:lnTo>
                  <a:pt x="5449010" y="8256494"/>
                </a:lnTo>
                <a:lnTo>
                  <a:pt x="0" y="8256494"/>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3009622"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Incio de sesión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2297268" y="2895749"/>
            <a:ext cx="13836919" cy="6174725"/>
          </a:xfrm>
          <a:custGeom>
            <a:avLst/>
            <a:gdLst/>
            <a:ahLst/>
            <a:cxnLst/>
            <a:rect r="r" b="b" t="t" l="l"/>
            <a:pathLst>
              <a:path h="6174725" w="13836919">
                <a:moveTo>
                  <a:pt x="0" y="0"/>
                </a:moveTo>
                <a:lnTo>
                  <a:pt x="13836919" y="0"/>
                </a:lnTo>
                <a:lnTo>
                  <a:pt x="13836919" y="6174725"/>
                </a:lnTo>
                <a:lnTo>
                  <a:pt x="0" y="6174725"/>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015612" y="9403849"/>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Servicios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2698283" y="2394945"/>
            <a:ext cx="12891433" cy="6993603"/>
          </a:xfrm>
          <a:custGeom>
            <a:avLst/>
            <a:gdLst/>
            <a:ahLst/>
            <a:cxnLst/>
            <a:rect r="r" b="b" t="t" l="l"/>
            <a:pathLst>
              <a:path h="6993603" w="12891433">
                <a:moveTo>
                  <a:pt x="0" y="0"/>
                </a:moveTo>
                <a:lnTo>
                  <a:pt x="12891434" y="0"/>
                </a:lnTo>
                <a:lnTo>
                  <a:pt x="12891434" y="6993602"/>
                </a:lnTo>
                <a:lnTo>
                  <a:pt x="0" y="6993602"/>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813920"/>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1755178" y="9619508"/>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Visibilidad de los servicios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1940057" y="2895749"/>
            <a:ext cx="13392300" cy="5423881"/>
          </a:xfrm>
          <a:custGeom>
            <a:avLst/>
            <a:gdLst/>
            <a:ahLst/>
            <a:cxnLst/>
            <a:rect r="r" b="b" t="t" l="l"/>
            <a:pathLst>
              <a:path h="5423881" w="13392300">
                <a:moveTo>
                  <a:pt x="0" y="0"/>
                </a:moveTo>
                <a:lnTo>
                  <a:pt x="13392300" y="0"/>
                </a:lnTo>
                <a:lnTo>
                  <a:pt x="13392300" y="5423881"/>
                </a:lnTo>
                <a:lnTo>
                  <a:pt x="0" y="5423881"/>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1940057" y="8934450"/>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Personal</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2543852" y="2495699"/>
            <a:ext cx="12541920" cy="7057766"/>
          </a:xfrm>
          <a:custGeom>
            <a:avLst/>
            <a:gdLst/>
            <a:ahLst/>
            <a:cxnLst/>
            <a:rect r="r" b="b" t="t" l="l"/>
            <a:pathLst>
              <a:path h="7057766" w="12541920">
                <a:moveTo>
                  <a:pt x="0" y="0"/>
                </a:moveTo>
                <a:lnTo>
                  <a:pt x="12541920" y="0"/>
                </a:lnTo>
                <a:lnTo>
                  <a:pt x="12541920" y="7057766"/>
                </a:lnTo>
                <a:lnTo>
                  <a:pt x="0" y="7057766"/>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Agendar cita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539472" y="2495699"/>
            <a:ext cx="17209056" cy="7658030"/>
          </a:xfrm>
          <a:custGeom>
            <a:avLst/>
            <a:gdLst/>
            <a:ahLst/>
            <a:cxnLst/>
            <a:rect r="r" b="b" t="t" l="l"/>
            <a:pathLst>
              <a:path h="7658030" w="17209056">
                <a:moveTo>
                  <a:pt x="0" y="0"/>
                </a:moveTo>
                <a:lnTo>
                  <a:pt x="17209056" y="0"/>
                </a:lnTo>
                <a:lnTo>
                  <a:pt x="17209056" y="7658030"/>
                </a:lnTo>
                <a:lnTo>
                  <a:pt x="0" y="7658030"/>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1914674"/>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16097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Estado de citas</a:t>
            </a:r>
          </a:p>
          <a:p>
            <a:pPr algn="l">
              <a:lnSpc>
                <a:spcPts val="4079"/>
              </a:lnSpc>
            </a:pPr>
          </a:p>
          <a:p>
            <a:pPr algn="l">
              <a:lnSpc>
                <a:spcPts val="4079"/>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1360267" y="1580124"/>
            <a:ext cx="14794629" cy="8192526"/>
          </a:xfrm>
          <a:custGeom>
            <a:avLst/>
            <a:gdLst/>
            <a:ahLst/>
            <a:cxnLst/>
            <a:rect r="r" b="b" t="t" l="l"/>
            <a:pathLst>
              <a:path h="8192526" w="14794629">
                <a:moveTo>
                  <a:pt x="0" y="0"/>
                </a:moveTo>
                <a:lnTo>
                  <a:pt x="14794630" y="0"/>
                </a:lnTo>
                <a:lnTo>
                  <a:pt x="14794630" y="8192526"/>
                </a:lnTo>
                <a:lnTo>
                  <a:pt x="0" y="8192526"/>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1710235" y="1001935"/>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1360267" y="9705975"/>
            <a:ext cx="12541920" cy="109537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Gestionar citas</a:t>
            </a:r>
          </a:p>
          <a:p>
            <a:pPr algn="l">
              <a:lnSpc>
                <a:spcPts val="4079"/>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1028700" y="1506760"/>
            <a:ext cx="14682777" cy="8020467"/>
          </a:xfrm>
          <a:custGeom>
            <a:avLst/>
            <a:gdLst/>
            <a:ahLst/>
            <a:cxnLst/>
            <a:rect r="r" b="b" t="t" l="l"/>
            <a:pathLst>
              <a:path h="8020467" w="14682777">
                <a:moveTo>
                  <a:pt x="0" y="0"/>
                </a:moveTo>
                <a:lnTo>
                  <a:pt x="14682777" y="0"/>
                </a:lnTo>
                <a:lnTo>
                  <a:pt x="14682777" y="8020467"/>
                </a:lnTo>
                <a:lnTo>
                  <a:pt x="0" y="8020467"/>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1654327" y="925735"/>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Calendario</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2071291" y="2385323"/>
            <a:ext cx="12767897" cy="7102143"/>
          </a:xfrm>
          <a:custGeom>
            <a:avLst/>
            <a:gdLst/>
            <a:ahLst/>
            <a:cxnLst/>
            <a:rect r="r" b="b" t="t" l="l"/>
            <a:pathLst>
              <a:path h="7102143" w="12767897">
                <a:moveTo>
                  <a:pt x="0" y="0"/>
                </a:moveTo>
                <a:lnTo>
                  <a:pt x="12767897" y="0"/>
                </a:lnTo>
                <a:lnTo>
                  <a:pt x="12767897" y="7102143"/>
                </a:lnTo>
                <a:lnTo>
                  <a:pt x="0" y="7102143"/>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1961821" y="1213081"/>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581025"/>
          </a:xfrm>
          <a:prstGeom prst="rect">
            <a:avLst/>
          </a:prstGeom>
        </p:spPr>
        <p:txBody>
          <a:bodyPr anchor="t" rtlCol="false" tIns="0" lIns="0" bIns="0" rIns="0">
            <a:spAutoFit/>
          </a:bodyPr>
          <a:lstStyle/>
          <a:p>
            <a:pPr algn="l">
              <a:lnSpc>
                <a:spcPts val="4079"/>
              </a:lnSpc>
            </a:pPr>
            <a:r>
              <a:rPr lang="en-US" sz="3399">
                <a:solidFill>
                  <a:srgbClr val="000000"/>
                </a:solidFill>
                <a:latin typeface="Calibri (MS)"/>
                <a:ea typeface="Calibri (MS)"/>
                <a:cs typeface="Calibri (MS)"/>
                <a:sym typeface="Calibri (MS)"/>
              </a:rPr>
              <a:t>Informe (Estilista)</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Freeform 4" id="4"/>
          <p:cNvSpPr/>
          <p:nvPr/>
        </p:nvSpPr>
        <p:spPr>
          <a:xfrm flipH="false" flipV="false" rot="0">
            <a:off x="3687046" y="1527895"/>
            <a:ext cx="11939356" cy="7959571"/>
          </a:xfrm>
          <a:custGeom>
            <a:avLst/>
            <a:gdLst/>
            <a:ahLst/>
            <a:cxnLst/>
            <a:rect r="r" b="b" t="t" l="l"/>
            <a:pathLst>
              <a:path h="7959571" w="11939356">
                <a:moveTo>
                  <a:pt x="0" y="0"/>
                </a:moveTo>
                <a:lnTo>
                  <a:pt x="11939356" y="0"/>
                </a:lnTo>
                <a:lnTo>
                  <a:pt x="11939356" y="7959571"/>
                </a:lnTo>
                <a:lnTo>
                  <a:pt x="0" y="7959571"/>
                </a:lnTo>
                <a:lnTo>
                  <a:pt x="0" y="0"/>
                </a:lnTo>
                <a:close/>
              </a:path>
            </a:pathLst>
          </a:custGeom>
          <a:blipFill>
            <a:blip r:embed="rId4"/>
            <a:stretch>
              <a:fillRect l="0" t="0" r="0" b="0"/>
            </a:stretch>
          </a:blipFill>
        </p:spPr>
      </p:sp>
      <p:sp>
        <p:nvSpPr>
          <p:cNvPr name="TextBox 5" id="5"/>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6" id="6"/>
          <p:cNvSpPr txBox="true"/>
          <p:nvPr/>
        </p:nvSpPr>
        <p:spPr>
          <a:xfrm rot="0">
            <a:off x="2297268" y="925735"/>
            <a:ext cx="12541920" cy="581025"/>
          </a:xfrm>
          <a:prstGeom prst="rect">
            <a:avLst/>
          </a:prstGeom>
        </p:spPr>
        <p:txBody>
          <a:bodyPr anchor="t" rtlCol="false" tIns="0" lIns="0" bIns="0" rIns="0">
            <a:spAutoFit/>
          </a:bodyPr>
          <a:lstStyle/>
          <a:p>
            <a:pPr algn="l">
              <a:lnSpc>
                <a:spcPts val="4079"/>
              </a:lnSpc>
            </a:pPr>
            <a:r>
              <a:rPr lang="en-US" sz="3399" b="true">
                <a:solidFill>
                  <a:srgbClr val="000000"/>
                </a:solidFill>
                <a:latin typeface="Calibri (MS) Bold"/>
                <a:ea typeface="Calibri (MS) Bold"/>
                <a:cs typeface="Calibri (MS) Bold"/>
                <a:sym typeface="Calibri (MS) Bold"/>
              </a:rPr>
              <a:t>Mockups</a:t>
            </a:r>
          </a:p>
        </p:txBody>
      </p:sp>
      <p:sp>
        <p:nvSpPr>
          <p:cNvPr name="TextBox 7" id="7"/>
          <p:cNvSpPr txBox="true"/>
          <p:nvPr/>
        </p:nvSpPr>
        <p:spPr>
          <a:xfrm rot="0">
            <a:off x="2297268" y="9420791"/>
            <a:ext cx="12541920" cy="485775"/>
          </a:xfrm>
          <a:prstGeom prst="rect">
            <a:avLst/>
          </a:prstGeom>
        </p:spPr>
        <p:txBody>
          <a:bodyPr anchor="t" rtlCol="false" tIns="0" lIns="0" bIns="0" rIns="0">
            <a:spAutoFit/>
          </a:bodyPr>
          <a:lstStyle/>
          <a:p>
            <a:pPr algn="l">
              <a:lnSpc>
                <a:spcPts val="3359"/>
              </a:lnSpc>
            </a:pPr>
            <a:r>
              <a:rPr lang="en-US" sz="2799">
                <a:solidFill>
                  <a:srgbClr val="000000"/>
                </a:solidFill>
                <a:latin typeface="Calibri (MS)"/>
                <a:ea typeface="Calibri (MS)"/>
                <a:cs typeface="Calibri (MS)"/>
                <a:sym typeface="Calibri (MS)"/>
              </a:rPr>
              <a:t>Servicios (Administrador) hay 2 gestión de usuarios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2791190"/>
            <a:ext cx="14962032" cy="334327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Ficha Técnica </a:t>
            </a:r>
          </a:p>
          <a:p>
            <a:pPr algn="l">
              <a:lnSpc>
                <a:spcPts val="4319"/>
              </a:lnSpc>
            </a:pPr>
            <a:r>
              <a:rPr lang="en-US" sz="3599">
                <a:solidFill>
                  <a:srgbClr val="000000"/>
                </a:solidFill>
                <a:latin typeface="Calibri (MS)"/>
                <a:ea typeface="Calibri (MS)"/>
                <a:cs typeface="Calibri (MS)"/>
                <a:sym typeface="Calibri (MS)"/>
              </a:rPr>
              <a:t>Este apartado reúne la documentación relacionada con la viabilidad del proyecto "Glam Hub". Incluye la carta de presentación de Smarcode, las propuestas de desarrollo con sus respectivos costos y gastos, y el contrato entre las partes, donde se establecen los compromisos, responsabilidades, alcances y condiciones para la ejecución del proyecto.</a:t>
            </a:r>
          </a:p>
        </p:txBody>
      </p:sp>
      <p:sp>
        <p:nvSpPr>
          <p:cNvPr name="TextBox 5" id="5"/>
          <p:cNvSpPr txBox="true"/>
          <p:nvPr/>
        </p:nvSpPr>
        <p:spPr>
          <a:xfrm rot="0">
            <a:off x="6102792" y="7686010"/>
            <a:ext cx="5424250"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3" tooltip="https://docs.google.com/document/d/10toyUxBIwkkFi7EwvDDbT391zbd4lKgC/edit?usp=sharing&amp;ouid=105537226007472158094&amp;rtpof=true&amp;sd=true"/>
              </a:rPr>
              <a:t>Ficha Técnica </a:t>
            </a:r>
          </a:p>
        </p:txBody>
      </p:sp>
      <p:sp>
        <p:nvSpPr>
          <p:cNvPr name="Freeform 6" id="6"/>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4"/>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44291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Diagramas de Casos de Uso y Casos de Uso Extendidos</a:t>
            </a:r>
          </a:p>
          <a:p>
            <a:pPr algn="l">
              <a:lnSpc>
                <a:spcPts val="4319"/>
              </a:lnSpc>
            </a:pPr>
            <a:r>
              <a:rPr lang="en-US" sz="3599">
                <a:solidFill>
                  <a:srgbClr val="000000"/>
                </a:solidFill>
                <a:latin typeface="Calibri (MS)"/>
                <a:ea typeface="Calibri (MS)"/>
                <a:cs typeface="Calibri (MS)"/>
                <a:sym typeface="Calibri (MS)"/>
              </a:rPr>
              <a:t>En este apartado se presentan los diagramas de casos de uso, que muestran de forma gráfica las funcionalidades del sistema “Glam Hub” y la interacción con los usuarios.</a:t>
            </a:r>
          </a:p>
          <a:p>
            <a:pPr algn="l">
              <a:lnSpc>
                <a:spcPts val="4319"/>
              </a:lnSpc>
            </a:pPr>
            <a:r>
              <a:rPr lang="en-US" sz="3599">
                <a:solidFill>
                  <a:srgbClr val="000000"/>
                </a:solidFill>
                <a:latin typeface="Calibri (MS)"/>
                <a:ea typeface="Calibri (MS)"/>
                <a:cs typeface="Calibri (MS)"/>
                <a:sym typeface="Calibri (MS)"/>
              </a:rPr>
              <a:t>Asimismo, se incluyen los casos de uso extendidos, donde se describen de manera general los procesos, actores y posibles escenarios del sistema.</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2677395" y="6534931"/>
            <a:ext cx="4713238"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lucid.app/lucidchart/7e6e2668-f0fa-4c3c-96dc-d0d96693be62/edit?view_items=lrB3IK~7YOaj&amp;page=0_0&amp;invitationId=inv_ea50ee51-0db1-4af0-9031-61b50b92a2b1"/>
              </a:rPr>
              <a:t>Casos de uso</a:t>
            </a:r>
          </a:p>
        </p:txBody>
      </p:sp>
      <p:sp>
        <p:nvSpPr>
          <p:cNvPr name="TextBox 7" id="7"/>
          <p:cNvSpPr txBox="true"/>
          <p:nvPr/>
        </p:nvSpPr>
        <p:spPr>
          <a:xfrm rot="0">
            <a:off x="10035125" y="6534931"/>
            <a:ext cx="5040861" cy="242760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5" tooltip="https://docs.google.com/spreadsheets/d/1xK-gwlwGCW2xL3DVFaVPcYWuLRV3PzP5RUAEmZ7WLOo/edit?usp=sharing"/>
              </a:rPr>
              <a:t>Casos de uso extendido</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306793" y="1895624"/>
            <a:ext cx="12541920" cy="334327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Modelo Entidad-Relación</a:t>
            </a:r>
          </a:p>
          <a:p>
            <a:pPr algn="l">
              <a:lnSpc>
                <a:spcPts val="4319"/>
              </a:lnSpc>
            </a:pPr>
            <a:r>
              <a:rPr lang="en-US" sz="3599">
                <a:solidFill>
                  <a:srgbClr val="000000"/>
                </a:solidFill>
                <a:latin typeface="Calibri (MS)"/>
                <a:ea typeface="Calibri (MS)"/>
                <a:cs typeface="Calibri (MS)"/>
                <a:sym typeface="Calibri (MS)"/>
              </a:rPr>
              <a:t>Modelo entidad-relación (MER), el cual representa de forma gráfica las entidades del sistema, sus atributos y las relaciones entre ellas, permitiendo una mejor comprensión de la estructura de la base de datos.</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2731339" y="6059460"/>
            <a:ext cx="9150995"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lucid.app/lucidchart/734f8350-cede-48b2-bc1d-a60bc0b0b5a7/edit?invitationId=inv_b1e851d2-687e-4425-a072-359aeb605bcf&amp;page=0_0"/>
              </a:rPr>
              <a:t>Modelo Entidad Relación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388620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Modelo Entidad Relación notación Crow’s Fot</a:t>
            </a:r>
          </a:p>
          <a:p>
            <a:pPr algn="l">
              <a:lnSpc>
                <a:spcPts val="4319"/>
              </a:lnSpc>
            </a:pPr>
            <a:r>
              <a:rPr lang="en-US" sz="3599">
                <a:solidFill>
                  <a:srgbClr val="000000"/>
                </a:solidFill>
                <a:latin typeface="Calibri (MS)"/>
                <a:ea typeface="Calibri (MS)"/>
                <a:cs typeface="Calibri (MS)"/>
                <a:sym typeface="Calibri (MS)"/>
              </a:rPr>
              <a:t>En este apartado se presenta el modelo entidad-relación (MER) del sistema “Glam Hub”, el cual muestra de forma gráfica las entidades principales, sus atributos y las relaciones entre ellas.</a:t>
            </a:r>
          </a:p>
          <a:p>
            <a:pPr algn="l">
              <a:lnSpc>
                <a:spcPts val="4319"/>
              </a:lnSpc>
            </a:pPr>
            <a:r>
              <a:rPr lang="en-US" sz="3599">
                <a:solidFill>
                  <a:srgbClr val="000000"/>
                </a:solidFill>
                <a:latin typeface="Calibri (MS)"/>
                <a:ea typeface="Calibri (MS)"/>
                <a:cs typeface="Calibri (MS)"/>
                <a:sym typeface="Calibri (MS)"/>
              </a:rPr>
              <a:t>Este modelo permite comprender la estructura de la base de datos y sirve como base para su diseño e implementación.</a:t>
            </a:r>
          </a:p>
          <a:p>
            <a:pPr algn="l">
              <a:lnSpc>
                <a:spcPts val="4319"/>
              </a:lnSpc>
            </a:pPr>
          </a:p>
        </p:txBody>
      </p:sp>
      <p:sp>
        <p:nvSpPr>
          <p:cNvPr name="Freeform 5" id="5"/>
          <p:cNvSpPr/>
          <p:nvPr/>
        </p:nvSpPr>
        <p:spPr>
          <a:xfrm flipH="false" flipV="false" rot="0">
            <a:off x="206705" y="195099"/>
            <a:ext cx="1179706" cy="1179706"/>
          </a:xfrm>
          <a:custGeom>
            <a:avLst/>
            <a:gdLst/>
            <a:ahLst/>
            <a:cxnLst/>
            <a:rect r="r" b="b" t="t" l="l"/>
            <a:pathLst>
              <a:path h="1179706" w="1179706">
                <a:moveTo>
                  <a:pt x="0" y="0"/>
                </a:moveTo>
                <a:lnTo>
                  <a:pt x="1179706" y="0"/>
                </a:lnTo>
                <a:lnTo>
                  <a:pt x="1179706" y="1179707"/>
                </a:lnTo>
                <a:lnTo>
                  <a:pt x="0" y="1179707"/>
                </a:lnTo>
                <a:lnTo>
                  <a:pt x="0" y="0"/>
                </a:lnTo>
                <a:close/>
              </a:path>
            </a:pathLst>
          </a:custGeom>
          <a:blipFill>
            <a:blip r:embed="rId3"/>
            <a:stretch>
              <a:fillRect l="0" t="0" r="0" b="0"/>
            </a:stretch>
          </a:blipFill>
        </p:spPr>
      </p:sp>
      <p:sp>
        <p:nvSpPr>
          <p:cNvPr name="TextBox 6" id="6"/>
          <p:cNvSpPr txBox="true"/>
          <p:nvPr/>
        </p:nvSpPr>
        <p:spPr>
          <a:xfrm rot="0">
            <a:off x="5415281" y="6522853"/>
            <a:ext cx="5982593"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app.moqups.com/P4E0DKjQYDSIJmDypiSxoMPPqQy9OVxj/view/page/af121156"/>
              </a:rPr>
              <a:t>MER Crow´s fot</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306793" y="1895624"/>
            <a:ext cx="12541920" cy="2800350"/>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Normalización</a:t>
            </a:r>
          </a:p>
          <a:p>
            <a:pPr algn="l">
              <a:lnSpc>
                <a:spcPts val="4319"/>
              </a:lnSpc>
            </a:pPr>
            <a:r>
              <a:rPr lang="en-US" sz="3599">
                <a:solidFill>
                  <a:srgbClr val="000000"/>
                </a:solidFill>
                <a:latin typeface="Calibri (MS)"/>
                <a:ea typeface="Calibri (MS)"/>
                <a:cs typeface="Calibri (MS)"/>
                <a:sym typeface="Calibri (MS)"/>
              </a:rPr>
              <a:t>En este apartado se presenta el proceso de normalización de la base de datos, con el objetivo de organizar la información de manera eficiente, reducir la redundancia y evitar inconsistencias.</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4122160" y="5186089"/>
            <a:ext cx="5238304"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docs.google.com/spreadsheets/d/1UIRyDmDWaIrelY5OicPyd5Xo8pv0x-Hv/edit?usp=sharing&amp;ouid=105537226007472158094&amp;rtpof=true&amp;sd=true"/>
              </a:rPr>
              <a:t>Normalización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44291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Diccionario de base de datos</a:t>
            </a:r>
          </a:p>
          <a:p>
            <a:pPr algn="l">
              <a:lnSpc>
                <a:spcPts val="4319"/>
              </a:lnSpc>
            </a:pPr>
            <a:r>
              <a:rPr lang="en-US" sz="3599">
                <a:solidFill>
                  <a:srgbClr val="000000"/>
                </a:solidFill>
                <a:latin typeface="Calibri (MS)"/>
                <a:ea typeface="Calibri (MS)"/>
                <a:cs typeface="Calibri (MS)"/>
                <a:sym typeface="Calibri (MS)"/>
              </a:rPr>
              <a:t>Diccionario de Base de Datos</a:t>
            </a:r>
          </a:p>
          <a:p>
            <a:pPr algn="l">
              <a:lnSpc>
                <a:spcPts val="4319"/>
              </a:lnSpc>
            </a:pPr>
            <a:r>
              <a:rPr lang="en-US" sz="3599">
                <a:solidFill>
                  <a:srgbClr val="000000"/>
                </a:solidFill>
                <a:latin typeface="Calibri (MS)"/>
                <a:ea typeface="Calibri (MS)"/>
                <a:cs typeface="Calibri (MS)"/>
                <a:sym typeface="Calibri (MS)"/>
              </a:rPr>
              <a:t>En este apartado se describe la estructura de la base de datos del sistema “Glam Hub”, especificando las tablas, campos, tipos de datos y relaciones existentes.</a:t>
            </a:r>
          </a:p>
          <a:p>
            <a:pPr algn="l">
              <a:lnSpc>
                <a:spcPts val="4319"/>
              </a:lnSpc>
            </a:pPr>
            <a:r>
              <a:rPr lang="en-US" sz="3599">
                <a:solidFill>
                  <a:srgbClr val="000000"/>
                </a:solidFill>
                <a:latin typeface="Calibri (MS)"/>
                <a:ea typeface="Calibri (MS)"/>
                <a:cs typeface="Calibri (MS)"/>
                <a:sym typeface="Calibri (MS)"/>
              </a:rPr>
              <a:t>El diccionario de datos permite comprender la organización de la información, facilitando el desarrollo, mantenimiento y gestión eficiente del sistema.</a:t>
            </a: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4058185" y="6708553"/>
            <a:ext cx="7474893"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docs.google.com/document/d/1aLn9UkWHm5NwGNzXzQCxWK1ZnnQiNM_aqAMHB9aQ9z4/edit?usp=sharing"/>
              </a:rPr>
              <a:t>Diccionario de datos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Freeform 4" id="4"/>
          <p:cNvSpPr/>
          <p:nvPr/>
        </p:nvSpPr>
        <p:spPr>
          <a:xfrm flipH="false" flipV="false" rot="0">
            <a:off x="244805"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5" id="5"/>
          <p:cNvSpPr txBox="true"/>
          <p:nvPr/>
        </p:nvSpPr>
        <p:spPr>
          <a:xfrm rot="0">
            <a:off x="4649185" y="6492837"/>
            <a:ext cx="7354788"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lucid.app/lucidchart/ab9f42f1-3537-42a6-ac30-35a04e5c4772/edit?viewport_loc=-352%2C65%2C4989%2C2330%2CQORDXSZ06kcb3&amp;invitationId=inv_c4874025-eb3d-4d1a-bf24-7eeeaff2121f"/>
              </a:rPr>
              <a:t>Diagrama de clases</a:t>
            </a:r>
          </a:p>
        </p:txBody>
      </p:sp>
      <p:sp>
        <p:nvSpPr>
          <p:cNvPr name="TextBox 6" id="6"/>
          <p:cNvSpPr txBox="true"/>
          <p:nvPr/>
        </p:nvSpPr>
        <p:spPr>
          <a:xfrm rot="0">
            <a:off x="2543852" y="1720812"/>
            <a:ext cx="12541920" cy="4972050"/>
          </a:xfrm>
          <a:prstGeom prst="rect">
            <a:avLst/>
          </a:prstGeom>
        </p:spPr>
        <p:txBody>
          <a:bodyPr anchor="t" rtlCol="false" tIns="0" lIns="0" bIns="0" rIns="0">
            <a:spAutoFit/>
          </a:bodyPr>
          <a:lstStyle/>
          <a:p>
            <a:pPr algn="l">
              <a:lnSpc>
                <a:spcPts val="4319"/>
              </a:lnSpc>
            </a:pPr>
          </a:p>
          <a:p>
            <a:pPr algn="l">
              <a:lnSpc>
                <a:spcPts val="4319"/>
              </a:lnSpc>
            </a:pPr>
            <a:r>
              <a:rPr lang="en-US" sz="3599" b="true">
                <a:solidFill>
                  <a:srgbClr val="000000"/>
                </a:solidFill>
                <a:latin typeface="Calibri (MS) Bold"/>
                <a:ea typeface="Calibri (MS) Bold"/>
                <a:cs typeface="Calibri (MS) Bold"/>
                <a:sym typeface="Calibri (MS) Bold"/>
              </a:rPr>
              <a:t>Diagrama de clases</a:t>
            </a:r>
          </a:p>
          <a:p>
            <a:pPr algn="l">
              <a:lnSpc>
                <a:spcPts val="4319"/>
              </a:lnSpc>
            </a:pPr>
            <a:r>
              <a:rPr lang="en-US" sz="3599">
                <a:solidFill>
                  <a:srgbClr val="000000"/>
                </a:solidFill>
                <a:latin typeface="Calibri (MS)"/>
                <a:ea typeface="Calibri (MS)"/>
                <a:cs typeface="Calibri (MS)"/>
                <a:sym typeface="Calibri (MS)"/>
              </a:rPr>
              <a:t>En este apartado se presenta el diagrama de clases del sistema “Glam Hub”, el cual muestra la estructura del sistema a nivel lógico, incluyendo las clases, atributos, métodos y las relaciones entre ellas.</a:t>
            </a:r>
          </a:p>
          <a:p>
            <a:pPr algn="l">
              <a:lnSpc>
                <a:spcPts val="4319"/>
              </a:lnSpc>
            </a:pPr>
            <a:r>
              <a:rPr lang="en-US" sz="3599">
                <a:solidFill>
                  <a:srgbClr val="000000"/>
                </a:solidFill>
                <a:latin typeface="Calibri (MS)"/>
                <a:ea typeface="Calibri (MS)"/>
                <a:cs typeface="Calibri (MS)"/>
                <a:sym typeface="Calibri (MS)"/>
              </a:rPr>
              <a:t>Este diagrama permite comprender la organización interna del sistema y sirve como base para el desarrollo de la aplicación.</a:t>
            </a:r>
          </a:p>
          <a:p>
            <a:pPr algn="l">
              <a:lnSpc>
                <a:spcPts val="4319"/>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442912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Dagrama de despliegue</a:t>
            </a:r>
          </a:p>
          <a:p>
            <a:pPr algn="l">
              <a:lnSpc>
                <a:spcPts val="4319"/>
              </a:lnSpc>
            </a:pPr>
            <a:r>
              <a:rPr lang="en-US" sz="3599">
                <a:solidFill>
                  <a:srgbClr val="000000"/>
                </a:solidFill>
                <a:latin typeface="Calibri (MS)"/>
                <a:ea typeface="Calibri (MS)"/>
                <a:cs typeface="Calibri (MS)"/>
                <a:sym typeface="Calibri (MS)"/>
              </a:rPr>
              <a:t>En este apartado se presenta el diagrama de despliegue del sistema “Glam Hub”, el cual muestra la distribución de los componentes del sistema en la infraestructura tecnológica, incluyendo servidores, base de datos y dispositivos de acceso.</a:t>
            </a:r>
          </a:p>
          <a:p>
            <a:pPr algn="l">
              <a:lnSpc>
                <a:spcPts val="4319"/>
              </a:lnSpc>
            </a:pPr>
            <a:r>
              <a:rPr lang="en-US" sz="3599">
                <a:solidFill>
                  <a:srgbClr val="000000"/>
                </a:solidFill>
                <a:latin typeface="Calibri (MS)"/>
                <a:ea typeface="Calibri (MS)"/>
                <a:cs typeface="Calibri (MS)"/>
                <a:sym typeface="Calibri (MS)"/>
              </a:rPr>
              <a:t>Este diagrama permite comprender cómo se implementa y ejecuta el sistema en un entorno real.</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3972043" y="6686850"/>
            <a:ext cx="9192369"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lucid.app/lucidchart/9c5691e4-a4f7-4b6b-b320-1a64964a849e/edit?invitationId=inv_26647c68-7813-4bbd-aee7-4b972a5f2a17&amp;page=0_0"/>
              </a:rPr>
              <a:t>Diagramas de despliegue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392335"/>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Documentos</a:t>
            </a:r>
          </a:p>
        </p:txBody>
      </p:sp>
      <p:sp>
        <p:nvSpPr>
          <p:cNvPr name="TextBox 4" id="4"/>
          <p:cNvSpPr txBox="true"/>
          <p:nvPr/>
        </p:nvSpPr>
        <p:spPr>
          <a:xfrm rot="0">
            <a:off x="2297268" y="1895624"/>
            <a:ext cx="12541920" cy="3343275"/>
          </a:xfrm>
          <a:prstGeom prst="rect">
            <a:avLst/>
          </a:prstGeom>
        </p:spPr>
        <p:txBody>
          <a:bodyPr anchor="t" rtlCol="false" tIns="0" lIns="0" bIns="0" rIns="0">
            <a:spAutoFit/>
          </a:bodyPr>
          <a:lstStyle/>
          <a:p>
            <a:pPr algn="l">
              <a:lnSpc>
                <a:spcPts val="4319"/>
              </a:lnSpc>
            </a:pPr>
            <a:r>
              <a:rPr lang="en-US" sz="3599" b="true">
                <a:solidFill>
                  <a:srgbClr val="000000"/>
                </a:solidFill>
                <a:latin typeface="Calibri (MS) Bold"/>
                <a:ea typeface="Calibri (MS) Bold"/>
                <a:cs typeface="Calibri (MS) Bold"/>
                <a:sym typeface="Calibri (MS) Bold"/>
              </a:rPr>
              <a:t>Sitema de control de versiones</a:t>
            </a:r>
          </a:p>
          <a:p>
            <a:pPr algn="l">
              <a:lnSpc>
                <a:spcPts val="4319"/>
              </a:lnSpc>
            </a:pPr>
            <a:r>
              <a:rPr lang="en-US" sz="3599">
                <a:solidFill>
                  <a:srgbClr val="000000"/>
                </a:solidFill>
                <a:latin typeface="Calibri (MS)"/>
                <a:ea typeface="Calibri (MS)"/>
                <a:cs typeface="Calibri (MS)"/>
                <a:sym typeface="Calibri (MS)"/>
              </a:rPr>
              <a:t>Para llevar un control sobre los documentos y cambios que se hagan durante el desarrollo, y eliminando el riesgo a la perdida de avaces por corrupción de documentos se creo un repositorio en Git Hub. </a:t>
            </a: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
        <p:nvSpPr>
          <p:cNvPr name="TextBox 6" id="6"/>
          <p:cNvSpPr txBox="true"/>
          <p:nvPr/>
        </p:nvSpPr>
        <p:spPr>
          <a:xfrm rot="0">
            <a:off x="6348129" y="5960048"/>
            <a:ext cx="3993952" cy="1227456"/>
          </a:xfrm>
          <a:prstGeom prst="rect">
            <a:avLst/>
          </a:prstGeom>
        </p:spPr>
        <p:txBody>
          <a:bodyPr anchor="t" rtlCol="false" tIns="0" lIns="0" bIns="0" rIns="0">
            <a:spAutoFit/>
          </a:bodyPr>
          <a:lstStyle/>
          <a:p>
            <a:pPr algn="l">
              <a:lnSpc>
                <a:spcPts val="9519"/>
              </a:lnSpc>
            </a:pPr>
            <a:r>
              <a:rPr lang="en-US" sz="6799" u="sng">
                <a:solidFill>
                  <a:srgbClr val="805F7B"/>
                </a:solidFill>
                <a:latin typeface="Bryndan Write"/>
                <a:ea typeface="Bryndan Write"/>
                <a:cs typeface="Bryndan Write"/>
                <a:sym typeface="Bryndan Write"/>
                <a:hlinkClick r:id="rId4" tooltip="https://github.com/yenny10-hash/Glam-Hub.git"/>
              </a:rPr>
              <a:t>Repositorio</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297268" y="826391"/>
            <a:ext cx="13035089" cy="1190625"/>
          </a:xfrm>
          <a:prstGeom prst="rect">
            <a:avLst/>
          </a:prstGeom>
        </p:spPr>
        <p:txBody>
          <a:bodyPr anchor="t" rtlCol="false" tIns="0" lIns="0" bIns="0" rIns="0">
            <a:spAutoFit/>
          </a:bodyPr>
          <a:lstStyle/>
          <a:p>
            <a:pPr algn="ctr">
              <a:lnSpc>
                <a:spcPts val="9360"/>
              </a:lnSpc>
            </a:pPr>
            <a:r>
              <a:rPr lang="en-US" sz="7800">
                <a:solidFill>
                  <a:srgbClr val="4D4D4C"/>
                </a:solidFill>
                <a:latin typeface="Belleza"/>
                <a:ea typeface="Belleza"/>
                <a:cs typeface="Belleza"/>
                <a:sym typeface="Belleza"/>
              </a:rPr>
              <a:t>Conclusión</a:t>
            </a:r>
          </a:p>
        </p:txBody>
      </p:sp>
      <p:sp>
        <p:nvSpPr>
          <p:cNvPr name="TextBox 4" id="4"/>
          <p:cNvSpPr txBox="true"/>
          <p:nvPr/>
        </p:nvSpPr>
        <p:spPr>
          <a:xfrm rot="0">
            <a:off x="1994278" y="2282416"/>
            <a:ext cx="13974305" cy="7686675"/>
          </a:xfrm>
          <a:prstGeom prst="rect">
            <a:avLst/>
          </a:prstGeom>
        </p:spPr>
        <p:txBody>
          <a:bodyPr anchor="t" rtlCol="false" tIns="0" lIns="0" bIns="0" rIns="0">
            <a:spAutoFit/>
          </a:bodyPr>
          <a:lstStyle/>
          <a:p>
            <a:pPr algn="l">
              <a:lnSpc>
                <a:spcPts val="4319"/>
              </a:lnSpc>
            </a:pPr>
            <a:r>
              <a:rPr lang="en-US" sz="3599">
                <a:solidFill>
                  <a:srgbClr val="000000"/>
                </a:solidFill>
                <a:latin typeface="Calibri (MS)"/>
                <a:ea typeface="Calibri (MS)"/>
                <a:cs typeface="Calibri (MS)"/>
                <a:sym typeface="Calibri (MS)"/>
              </a:rPr>
              <a:t>El proyecto “Glam Hub” se considera rentable debido a su capacidad para automatizar y optimizar procesos que actualmente se realizan de forma manual en el establecimiento, como la gestión de citas y la visibilidad de los servicios ofrecidos.</a:t>
            </a:r>
          </a:p>
          <a:p>
            <a:pPr algn="l">
              <a:lnSpc>
                <a:spcPts val="4319"/>
              </a:lnSpc>
            </a:pPr>
            <a:r>
              <a:rPr lang="en-US" sz="3599">
                <a:solidFill>
                  <a:srgbClr val="000000"/>
                </a:solidFill>
                <a:latin typeface="Calibri (MS)"/>
                <a:ea typeface="Calibri (MS)"/>
                <a:cs typeface="Calibri (MS)"/>
                <a:sym typeface="Calibri (MS)"/>
              </a:rPr>
              <a:t>Además, el sistema centraliza la información relevante de los clientes, incluyendo su historial de servicios, citas y preferencias, lo que permite una mejor organización y una atención más personalizada. De esta manera, se reduce la carga operativa, se minimizan errores y se fortalece la toma de decisiones, evidenciando que la implementación del sistema representa una mejora significativa en la gestión del negocio.</a:t>
            </a:r>
          </a:p>
          <a:p>
            <a:pPr algn="l">
              <a:lnSpc>
                <a:spcPts val="4319"/>
              </a:lnSpc>
            </a:pPr>
            <a:r>
              <a:rPr lang="en-US" sz="3599">
                <a:solidFill>
                  <a:srgbClr val="000000"/>
                </a:solidFill>
                <a:latin typeface="Calibri (MS)"/>
                <a:ea typeface="Calibri (MS)"/>
                <a:cs typeface="Calibri (MS)"/>
                <a:sym typeface="Calibri (MS)"/>
              </a:rPr>
              <a:t>Cuenta con un alcance claro para el desarrollo para que el interesado y el equipo puedan trabajar de la mano en su materialización y uso.</a:t>
            </a:r>
          </a:p>
          <a:p>
            <a:pPr algn="l">
              <a:lnSpc>
                <a:spcPts val="4319"/>
              </a:lnSpc>
            </a:pPr>
          </a:p>
          <a:p>
            <a:pPr algn="l">
              <a:lnSpc>
                <a:spcPts val="4319"/>
              </a:lnSpc>
            </a:pPr>
          </a:p>
        </p:txBody>
      </p:sp>
      <p:sp>
        <p:nvSpPr>
          <p:cNvPr name="Freeform 5" id="5"/>
          <p:cNvSpPr/>
          <p:nvPr/>
        </p:nvSpPr>
        <p:spPr>
          <a:xfrm flipH="false" flipV="false" rot="0">
            <a:off x="235280" y="154768"/>
            <a:ext cx="1124988" cy="1124988"/>
          </a:xfrm>
          <a:custGeom>
            <a:avLst/>
            <a:gdLst/>
            <a:ahLst/>
            <a:cxnLst/>
            <a:rect r="r" b="b" t="t" l="l"/>
            <a:pathLst>
              <a:path h="1124988" w="1124988">
                <a:moveTo>
                  <a:pt x="0" y="0"/>
                </a:moveTo>
                <a:lnTo>
                  <a:pt x="1124987" y="0"/>
                </a:lnTo>
                <a:lnTo>
                  <a:pt x="1124987" y="1124988"/>
                </a:lnTo>
                <a:lnTo>
                  <a:pt x="0" y="1124988"/>
                </a:lnTo>
                <a:lnTo>
                  <a:pt x="0" y="0"/>
                </a:lnTo>
                <a:close/>
              </a:path>
            </a:pathLst>
          </a:custGeom>
          <a:blipFill>
            <a:blip r:embed="rId3"/>
            <a:stretch>
              <a:fillRect l="0" t="0" r="0" b="0"/>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2716469" y="5833258"/>
            <a:ext cx="12855063" cy="1962150"/>
          </a:xfrm>
          <a:prstGeom prst="rect">
            <a:avLst/>
          </a:prstGeom>
        </p:spPr>
        <p:txBody>
          <a:bodyPr anchor="t" rtlCol="false" tIns="0" lIns="0" bIns="0" rIns="0">
            <a:spAutoFit/>
          </a:bodyPr>
          <a:lstStyle/>
          <a:p>
            <a:pPr algn="ctr">
              <a:lnSpc>
                <a:spcPts val="15464"/>
              </a:lnSpc>
            </a:pPr>
            <a:r>
              <a:rPr lang="en-US" sz="12887">
                <a:solidFill>
                  <a:srgbClr val="4D4D4C"/>
                </a:solidFill>
                <a:latin typeface="Great Vibes"/>
                <a:ea typeface="Great Vibes"/>
                <a:cs typeface="Great Vibes"/>
                <a:sym typeface="Great Vibes"/>
              </a:rPr>
              <a:t>GRACIAS</a:t>
            </a:r>
          </a:p>
        </p:txBody>
      </p:sp>
      <p:sp>
        <p:nvSpPr>
          <p:cNvPr name="Freeform 4" id="4"/>
          <p:cNvSpPr/>
          <p:nvPr/>
        </p:nvSpPr>
        <p:spPr>
          <a:xfrm flipH="false" flipV="false" rot="0">
            <a:off x="7109695" y="567767"/>
            <a:ext cx="4836166" cy="4836166"/>
          </a:xfrm>
          <a:custGeom>
            <a:avLst/>
            <a:gdLst/>
            <a:ahLst/>
            <a:cxnLst/>
            <a:rect r="r" b="b" t="t" l="l"/>
            <a:pathLst>
              <a:path h="4836166" w="4836166">
                <a:moveTo>
                  <a:pt x="0" y="0"/>
                </a:moveTo>
                <a:lnTo>
                  <a:pt x="4836166" y="0"/>
                </a:lnTo>
                <a:lnTo>
                  <a:pt x="4836166" y="4836167"/>
                </a:lnTo>
                <a:lnTo>
                  <a:pt x="0" y="4836167"/>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DAHPrdNHuN8</dc:identifier>
  <dcterms:modified xsi:type="dcterms:W3CDTF">2011-08-01T06:04:30Z</dcterms:modified>
  <cp:revision>1</cp:revision>
  <dc:title>Copia de GC-F-004_Presentación proyecto Glam Hub</dc:title>
</cp:coreProperties>
</file>